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9" r:id="rId1"/>
  </p:sldMasterIdLst>
  <p:notesMasterIdLst>
    <p:notesMasterId r:id="rId14"/>
  </p:notesMasterIdLst>
  <p:sldIdLst>
    <p:sldId id="256" r:id="rId2"/>
    <p:sldId id="267" r:id="rId3"/>
    <p:sldId id="262" r:id="rId4"/>
    <p:sldId id="263" r:id="rId5"/>
    <p:sldId id="264" r:id="rId6"/>
    <p:sldId id="266" r:id="rId7"/>
    <p:sldId id="265" r:id="rId8"/>
    <p:sldId id="258" r:id="rId9"/>
    <p:sldId id="257" r:id="rId10"/>
    <p:sldId id="259" r:id="rId11"/>
    <p:sldId id="260"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66" d="100"/>
          <a:sy n="66" d="100"/>
        </p:scale>
        <p:origin x="900" y="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D7F03-7CC3-4EC3-B6CD-9D0E4EECF8AB}" type="datetimeFigureOut">
              <a:rPr lang="en-US" smtClean="0"/>
              <a:t>03/13/2025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4110F5-71C8-4B78-9F5E-FAB9C17208D3}" type="slidenum">
              <a:rPr lang="en-US" smtClean="0"/>
              <a:t>‹#›</a:t>
            </a:fld>
            <a:endParaRPr lang="en-US"/>
          </a:p>
        </p:txBody>
      </p:sp>
    </p:spTree>
    <p:extLst>
      <p:ext uri="{BB962C8B-B14F-4D97-AF65-F5344CB8AC3E}">
        <p14:creationId xmlns:p14="http://schemas.microsoft.com/office/powerpoint/2010/main" val="2659997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4110F5-71C8-4B78-9F5E-FAB9C17208D3}" type="slidenum">
              <a:rPr lang="en-US" smtClean="0"/>
              <a:t>1</a:t>
            </a:fld>
            <a:endParaRPr lang="en-US"/>
          </a:p>
        </p:txBody>
      </p:sp>
    </p:spTree>
    <p:extLst>
      <p:ext uri="{BB962C8B-B14F-4D97-AF65-F5344CB8AC3E}">
        <p14:creationId xmlns:p14="http://schemas.microsoft.com/office/powerpoint/2010/main" val="283947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573616-E68B-4622-9569-CA265F63E089}"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4184403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B2FD8-0D29-4191-833F-A559E4ACB31B}"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76368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256CF3-9908-4940-B9E5-8F5A5911BBED}"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561634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ACF0B6-ADE2-4B5A-A195-158B874F3B0F}" type="datetime1">
              <a:rPr lang="en-US" smtClean="0"/>
              <a:t>03/13/2025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027001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0C1BA7-572C-423B-9212-FACE7A0CD83E}" type="datetime1">
              <a:rPr lang="en-US" smtClean="0"/>
              <a:t>03/13/2025</a:t>
            </a:fld>
            <a:endParaRPr lang="en-US"/>
          </a:p>
        </p:txBody>
      </p:sp>
      <p:sp>
        <p:nvSpPr>
          <p:cNvPr id="8" name="Footer Placeholder 7"/>
          <p:cNvSpPr>
            <a:spLocks noGrp="1"/>
          </p:cNvSpPr>
          <p:nvPr>
            <p:ph type="ftr" sz="quarter" idx="11"/>
          </p:nvPr>
        </p:nvSpPr>
        <p:spPr/>
        <p:txBody>
          <a:bodyPr/>
          <a:lstStyle/>
          <a:p>
            <a:r>
              <a:rPr lang="en-US"/>
              <a:t>Frankfurt University Of Applied Sciences, 2024/25</a:t>
            </a:r>
          </a:p>
        </p:txBody>
      </p:sp>
      <p:sp>
        <p:nvSpPr>
          <p:cNvPr id="9" name="Slide Number Placeholder 8"/>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41406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3AC6A4-B114-4FFB-A0C0-3E89F6812322}" type="datetime1">
              <a:rPr lang="en-US" smtClean="0"/>
              <a:t>03/13/2025</a:t>
            </a:fld>
            <a:endParaRPr lang="en-US"/>
          </a:p>
        </p:txBody>
      </p:sp>
      <p:sp>
        <p:nvSpPr>
          <p:cNvPr id="4" name="Footer Placeholder 3"/>
          <p:cNvSpPr>
            <a:spLocks noGrp="1"/>
          </p:cNvSpPr>
          <p:nvPr>
            <p:ph type="ftr" sz="quarter" idx="11"/>
          </p:nvPr>
        </p:nvSpPr>
        <p:spPr/>
        <p:txBody>
          <a:bodyPr/>
          <a:lstStyle/>
          <a:p>
            <a:r>
              <a:rPr lang="en-US"/>
              <a:t>Frankfurt University Of Applied Sciences, 2024/25</a:t>
            </a:r>
          </a:p>
        </p:txBody>
      </p:sp>
      <p:sp>
        <p:nvSpPr>
          <p:cNvPr id="5" name="Slide Number Placeholder 4"/>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411995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33D5FC-BCE4-48B3-965A-0E6694F907FF}" type="datetime1">
              <a:rPr lang="en-US" smtClean="0"/>
              <a:t>03/13/2025</a:t>
            </a:fld>
            <a:endParaRPr lang="en-US"/>
          </a:p>
        </p:txBody>
      </p:sp>
      <p:sp>
        <p:nvSpPr>
          <p:cNvPr id="3" name="Footer Placeholder 2"/>
          <p:cNvSpPr>
            <a:spLocks noGrp="1"/>
          </p:cNvSpPr>
          <p:nvPr>
            <p:ph type="ftr" sz="quarter" idx="11"/>
          </p:nvPr>
        </p:nvSpPr>
        <p:spPr/>
        <p:txBody>
          <a:bodyPr/>
          <a:lstStyle/>
          <a:p>
            <a:r>
              <a:rPr lang="en-US"/>
              <a:t>Frankfurt University Of Applied Sciences, 2024/25</a:t>
            </a:r>
          </a:p>
        </p:txBody>
      </p:sp>
      <p:sp>
        <p:nvSpPr>
          <p:cNvPr id="4" name="Slide Number Placeholder 3"/>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68888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8F94F7-D517-4D9C-A916-A380ADA76DF1}" type="datetime1">
              <a:rPr lang="en-US" smtClean="0"/>
              <a:t>03/13/2025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028205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5A502E-869C-4852-AF8A-10392746A8B6}" type="datetime1">
              <a:rPr lang="en-US" smtClean="0"/>
              <a:t>03/13/2025</a:t>
            </a:fld>
            <a:endParaRPr lang="en-US"/>
          </a:p>
        </p:txBody>
      </p:sp>
      <p:sp>
        <p:nvSpPr>
          <p:cNvPr id="6" name="Footer Placeholder 5"/>
          <p:cNvSpPr>
            <a:spLocks noGrp="1"/>
          </p:cNvSpPr>
          <p:nvPr>
            <p:ph type="ftr" sz="quarter" idx="11"/>
          </p:nvPr>
        </p:nvSpPr>
        <p:spPr/>
        <p:txBody>
          <a:bodyPr/>
          <a:lstStyle/>
          <a:p>
            <a:r>
              <a:rPr lang="en-US"/>
              <a:t>Frankfurt University Of Applied Sciences, 2024/25</a:t>
            </a:r>
          </a:p>
        </p:txBody>
      </p:sp>
      <p:sp>
        <p:nvSpPr>
          <p:cNvPr id="7" name="Slide Number Placeholder 6"/>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2956740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E6FAC6-E113-410E-AF90-2EA4A3764F17}"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23878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A0C20D-3992-4DFC-81C5-203FBDAC434A}"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37913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4684C-6BC6-45E7-984A-E36E6AD17336}"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1501795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0C2547-25DC-4C54-9237-DC5DD671D027}"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9954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D31C77-E63A-4600-AAE5-034C5EE76180}"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136821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050911-D6F6-4B2D-82A9-78CACB95AADB}"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672728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50F985-9767-4CEE-9DAA-C071EC034462}" type="datetime1">
              <a:rPr lang="en-US" smtClean="0"/>
              <a:t>03/13/2025</a:t>
            </a:fld>
            <a:endParaRPr lang="en-US"/>
          </a:p>
        </p:txBody>
      </p:sp>
      <p:sp>
        <p:nvSpPr>
          <p:cNvPr id="5" name="Footer Placeholder 4"/>
          <p:cNvSpPr>
            <a:spLocks noGrp="1"/>
          </p:cNvSpPr>
          <p:nvPr>
            <p:ph type="ftr" sz="quarter" idx="11"/>
          </p:nvPr>
        </p:nvSpPr>
        <p:spPr/>
        <p:txBody>
          <a:bodyPr/>
          <a:lstStyle/>
          <a:p>
            <a:r>
              <a:rPr lang="en-US"/>
              <a:t>Frankfurt University Of Applied Sciences, 2024/25</a:t>
            </a:r>
          </a:p>
        </p:txBody>
      </p:sp>
      <p:sp>
        <p:nvSpPr>
          <p:cNvPr id="6" name="Slide Number Placeholder 5"/>
          <p:cNvSpPr>
            <a:spLocks noGrp="1"/>
          </p:cNvSpPr>
          <p:nvPr>
            <p:ph type="sldNum" sz="quarter" idx="12"/>
          </p:nvPr>
        </p:nvSpPr>
        <p:spPr/>
        <p:txBody>
          <a:bodyPr/>
          <a:lstStyle/>
          <a:p>
            <a:fld id="{C1CCB802-6CFB-40EC-8AE2-CBCB01F71C83}" type="slidenum">
              <a:rPr lang="en-US" smtClean="0"/>
              <a:t>‹#›</a:t>
            </a:fld>
            <a:endParaRPr lang="en-US"/>
          </a:p>
        </p:txBody>
      </p:sp>
    </p:spTree>
    <p:extLst>
      <p:ext uri="{BB962C8B-B14F-4D97-AF65-F5344CB8AC3E}">
        <p14:creationId xmlns:p14="http://schemas.microsoft.com/office/powerpoint/2010/main" val="3953054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94A4156-E050-4B0E-87A3-8CC18DCF1CCE}" type="datetime1">
              <a:rPr lang="en-US" smtClean="0"/>
              <a:t>03/13/2025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Frankfurt University Of Applied Sciences, 2024/25</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CCB802-6CFB-40EC-8AE2-CBCB01F71C83}" type="slidenum">
              <a:rPr lang="en-US" smtClean="0"/>
              <a:t>‹#›</a:t>
            </a:fld>
            <a:endParaRPr lang="en-US"/>
          </a:p>
        </p:txBody>
      </p:sp>
    </p:spTree>
    <p:extLst>
      <p:ext uri="{BB962C8B-B14F-4D97-AF65-F5344CB8AC3E}">
        <p14:creationId xmlns:p14="http://schemas.microsoft.com/office/powerpoint/2010/main" val="382851879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waqas.ahmed@stud.fra-uas.de" TargetMode="External"/><Relationship Id="rId5" Type="http://schemas.openxmlformats.org/officeDocument/2006/relationships/hyperlink" Target="mailto:samra.arif@stud.fra-uas.de" TargetMode="External"/><Relationship Id="rId4" Type="http://schemas.openxmlformats.org/officeDocument/2006/relationships/hyperlink" Target="mailto:talha.saleem@stud.fra-uas.de"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eb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uhammad-Talha-S/synergy-neocortex-ad/tree/master/source/MySEProject"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FD528-106D-1A55-3815-89D9A78B2B11}"/>
              </a:ext>
            </a:extLst>
          </p:cNvPr>
          <p:cNvSpPr>
            <a:spLocks noGrp="1"/>
          </p:cNvSpPr>
          <p:nvPr>
            <p:ph type="ctrTitle"/>
          </p:nvPr>
        </p:nvSpPr>
        <p:spPr>
          <a:xfrm>
            <a:off x="732020" y="1701382"/>
            <a:ext cx="9144000" cy="2450893"/>
          </a:xfrm>
        </p:spPr>
        <p:txBody>
          <a:bodyPr/>
          <a:lstStyle/>
          <a:p>
            <a:pPr algn="ctr">
              <a:spcAft>
                <a:spcPts val="600"/>
              </a:spcAft>
            </a:pPr>
            <a:r>
              <a:rPr lang="en-US" sz="3600" b="1" dirty="0">
                <a:solidFill>
                  <a:schemeClr val="tx1"/>
                </a:solidFill>
                <a:latin typeface="Times New Roman" panose="02020603050405020304" pitchFamily="18" charset="0"/>
                <a:cs typeface="Times New Roman" panose="02020603050405020304" pitchFamily="18" charset="0"/>
              </a:rPr>
              <a:t>SOFTWARE ENGINEERING</a:t>
            </a:r>
            <a:br>
              <a:rPr lang="en-US" sz="3600" b="1" dirty="0">
                <a:solidFill>
                  <a:schemeClr val="tx1"/>
                </a:solidFill>
                <a:latin typeface="Times New Roman" panose="02020603050405020304" pitchFamily="18" charset="0"/>
                <a:cs typeface="Times New Roman" panose="02020603050405020304" pitchFamily="18" charset="0"/>
              </a:rPr>
            </a:br>
            <a:r>
              <a:rPr lang="en-US" sz="3600" b="1" dirty="0">
                <a:solidFill>
                  <a:schemeClr val="tx1"/>
                </a:solidFill>
                <a:latin typeface="Times New Roman" panose="02020603050405020304" pitchFamily="18" charset="0"/>
                <a:cs typeface="Times New Roman" panose="02020603050405020304" pitchFamily="18" charset="0"/>
              </a:rPr>
              <a:t>WS 24/25</a:t>
            </a:r>
            <a:br>
              <a:rPr lang="en-US" sz="3200" b="1" i="1" dirty="0">
                <a:solidFill>
                  <a:schemeClr val="tx1"/>
                </a:solidFill>
                <a:latin typeface="Times New Roman" panose="02020603050405020304" pitchFamily="18" charset="0"/>
                <a:cs typeface="Times New Roman" panose="02020603050405020304" pitchFamily="18" charset="0"/>
              </a:rPr>
            </a:br>
            <a:br>
              <a:rPr lang="en-US" sz="3200" b="1" i="1" dirty="0">
                <a:solidFill>
                  <a:schemeClr val="tx1"/>
                </a:solidFill>
                <a:latin typeface="Times New Roman" panose="02020603050405020304" pitchFamily="18" charset="0"/>
                <a:cs typeface="Times New Roman" panose="02020603050405020304" pitchFamily="18" charset="0"/>
              </a:rPr>
            </a:br>
            <a:r>
              <a:rPr lang="en-US" sz="2800" b="1" i="1" dirty="0">
                <a:solidFill>
                  <a:schemeClr val="tx1"/>
                </a:solidFill>
                <a:latin typeface="Times New Roman" panose="02020603050405020304" pitchFamily="18" charset="0"/>
                <a:cs typeface="Times New Roman" panose="02020603050405020304" pitchFamily="18" charset="0"/>
              </a:rPr>
              <a:t>ML 24/25–03 </a:t>
            </a:r>
            <a:r>
              <a:rPr lang="en-US" sz="2800" b="1" i="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Implement Anomaly Detection Sample</a:t>
            </a:r>
            <a:br>
              <a:rPr lang="en-US" sz="3200" b="1" i="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br>
            <a:br>
              <a:rPr lang="en-US" sz="3200" b="1" i="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br>
            <a:r>
              <a:rPr lang="en-US" sz="2800" b="1" i="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Presented by : </a:t>
            </a:r>
            <a:r>
              <a:rPr lang="en-US" sz="2800" b="1" i="1" dirty="0">
                <a:latin typeface="Times New Roman" panose="02020603050405020304" pitchFamily="18" charset="0"/>
                <a:cs typeface="Times New Roman" panose="02020603050405020304" pitchFamily="18" charset="0"/>
              </a:rPr>
              <a:t>Team Synergy</a:t>
            </a:r>
            <a:br>
              <a:rPr lang="en-US" sz="3200" b="1" i="1" dirty="0">
                <a:latin typeface="Times New Roman" panose="02020603050405020304" pitchFamily="18" charset="0"/>
                <a:cs typeface="Times New Roman" panose="02020603050405020304" pitchFamily="18" charset="0"/>
              </a:rPr>
            </a:br>
            <a:endParaRPr lang="en-US" sz="3200" b="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4" name="Title 1">
            <a:extLst>
              <a:ext uri="{FF2B5EF4-FFF2-40B4-BE49-F238E27FC236}">
                <a16:creationId xmlns:a16="http://schemas.microsoft.com/office/drawing/2014/main" id="{A32ED71A-D393-96DB-0767-6F609F29138B}"/>
              </a:ext>
            </a:extLst>
          </p:cNvPr>
          <p:cNvSpPr txBox="1">
            <a:spLocks/>
          </p:cNvSpPr>
          <p:nvPr/>
        </p:nvSpPr>
        <p:spPr>
          <a:xfrm>
            <a:off x="1016834" y="2005675"/>
            <a:ext cx="9144000" cy="38554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endParaRPr lang="en-US" sz="1800" b="1" i="1" dirty="0">
              <a:latin typeface="Times New Roman" panose="02020603050405020304" pitchFamily="18" charset="0"/>
              <a:cs typeface="Times New Roman" panose="02020603050405020304" pitchFamily="18" charset="0"/>
            </a:endParaRPr>
          </a:p>
        </p:txBody>
      </p:sp>
      <p:pic>
        <p:nvPicPr>
          <p:cNvPr id="9" name="Picture 8" descr="A blue and black graphic">
            <a:extLst>
              <a:ext uri="{FF2B5EF4-FFF2-40B4-BE49-F238E27FC236}">
                <a16:creationId xmlns:a16="http://schemas.microsoft.com/office/drawing/2014/main" id="{22AE8C64-D1A6-33D9-E28B-27F1E15ADE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graphicFrame>
        <p:nvGraphicFramePr>
          <p:cNvPr id="10" name="Table 9">
            <a:extLst>
              <a:ext uri="{FF2B5EF4-FFF2-40B4-BE49-F238E27FC236}">
                <a16:creationId xmlns:a16="http://schemas.microsoft.com/office/drawing/2014/main" id="{02BBDF5C-F952-2D85-89BE-A3F09A2CB262}"/>
              </a:ext>
            </a:extLst>
          </p:cNvPr>
          <p:cNvGraphicFramePr>
            <a:graphicFrameLocks noGrp="1"/>
          </p:cNvGraphicFramePr>
          <p:nvPr>
            <p:extLst>
              <p:ext uri="{D42A27DB-BD31-4B8C-83A1-F6EECF244321}">
                <p14:modId xmlns:p14="http://schemas.microsoft.com/office/powerpoint/2010/main" val="3369633860"/>
              </p:ext>
            </p:extLst>
          </p:nvPr>
        </p:nvGraphicFramePr>
        <p:xfrm>
          <a:off x="0" y="4549514"/>
          <a:ext cx="10815401" cy="914400"/>
        </p:xfrm>
        <a:graphic>
          <a:graphicData uri="http://schemas.openxmlformats.org/drawingml/2006/table">
            <a:tbl>
              <a:tblPr firstRow="1" bandRow="1">
                <a:tableStyleId>{2D5ABB26-0587-4C30-8999-92F81FD0307C}</a:tableStyleId>
              </a:tblPr>
              <a:tblGrid>
                <a:gridCol w="3747541">
                  <a:extLst>
                    <a:ext uri="{9D8B030D-6E8A-4147-A177-3AD203B41FA5}">
                      <a16:colId xmlns:a16="http://schemas.microsoft.com/office/drawing/2014/main" val="3103803513"/>
                    </a:ext>
                  </a:extLst>
                </a:gridCol>
                <a:gridCol w="3327816">
                  <a:extLst>
                    <a:ext uri="{9D8B030D-6E8A-4147-A177-3AD203B41FA5}">
                      <a16:colId xmlns:a16="http://schemas.microsoft.com/office/drawing/2014/main" val="38094295"/>
                    </a:ext>
                  </a:extLst>
                </a:gridCol>
                <a:gridCol w="3740044">
                  <a:extLst>
                    <a:ext uri="{9D8B030D-6E8A-4147-A177-3AD203B41FA5}">
                      <a16:colId xmlns:a16="http://schemas.microsoft.com/office/drawing/2014/main" val="126808032"/>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effectLst/>
                        </a:rPr>
                        <a:t>Mohammad Talha Saleem </a:t>
                      </a:r>
                      <a:br>
                        <a:rPr lang="en-US" sz="1800" dirty="0">
                          <a:effectLst/>
                        </a:rPr>
                      </a:br>
                      <a:r>
                        <a:rPr lang="en-US" sz="1800" u="sng" dirty="0">
                          <a:hlinkClick r:id="rId4"/>
                        </a:rPr>
                        <a:t>talha.saleem@stud.fra-uas.de</a:t>
                      </a:r>
                      <a:endParaRPr lang="en-US" sz="1800" u="sng" dirty="0"/>
                    </a:p>
                    <a:p>
                      <a:endParaRPr lang="en-US" dirty="0"/>
                    </a:p>
                  </a:txBody>
                  <a:tcPr/>
                </a:tc>
                <a:tc>
                  <a:txBody>
                    <a:bodyPr/>
                    <a:lstStyle/>
                    <a:p>
                      <a:r>
                        <a:rPr lang="en-US" sz="1800" b="1" dirty="0">
                          <a:effectLst/>
                        </a:rPr>
                        <a:t>Samra Arif</a:t>
                      </a:r>
                      <a:br>
                        <a:rPr lang="en-US" sz="1800" dirty="0">
                          <a:effectLst/>
                        </a:rPr>
                      </a:br>
                      <a:r>
                        <a:rPr lang="en-US" sz="1800" u="sng" kern="1200" dirty="0">
                          <a:solidFill>
                            <a:schemeClr val="accent1"/>
                          </a:solidFill>
                          <a:latin typeface="+mn-lt"/>
                          <a:ea typeface="+mn-ea"/>
                          <a:cs typeface="+mn-cs"/>
                          <a:hlinkClick r:id="rId5">
                            <a:extLst>
                              <a:ext uri="{A12FA001-AC4F-418D-AE19-62706E023703}">
                                <ahyp:hlinkClr xmlns:ahyp="http://schemas.microsoft.com/office/drawing/2018/hyperlinkcolor" val="tx"/>
                              </a:ext>
                            </a:extLst>
                          </a:hlinkClick>
                        </a:rPr>
                        <a:t>samra.arif@stud.fra-uas.de</a:t>
                      </a:r>
                      <a:br>
                        <a:rPr lang="en-US" sz="1800" dirty="0">
                          <a:effectLst/>
                        </a:rPr>
                      </a:br>
                      <a:endParaRPr lang="en-US" dirty="0"/>
                    </a:p>
                  </a:txBody>
                  <a:tcPr/>
                </a:tc>
                <a:tc>
                  <a:txBody>
                    <a:bodyPr/>
                    <a:lstStyle/>
                    <a:p>
                      <a:r>
                        <a:rPr lang="en-US" sz="1800" b="1" dirty="0">
                          <a:effectLst/>
                        </a:rPr>
                        <a:t>Waqas Ahmed</a:t>
                      </a:r>
                      <a:br>
                        <a:rPr lang="en-US" sz="1800" dirty="0">
                          <a:effectLst/>
                        </a:rPr>
                      </a:br>
                      <a:r>
                        <a:rPr lang="en-US" sz="1800" u="sng" dirty="0">
                          <a:effectLst/>
                          <a:hlinkClick r:id="rId6"/>
                        </a:rPr>
                        <a:t>waqas.ahmed@stud.fra-uas.de</a:t>
                      </a:r>
                      <a:endParaRPr lang="en-US" u="sng" dirty="0"/>
                    </a:p>
                  </a:txBody>
                  <a:tcPr/>
                </a:tc>
                <a:extLst>
                  <a:ext uri="{0D108BD9-81ED-4DB2-BD59-A6C34878D82A}">
                    <a16:rowId xmlns:a16="http://schemas.microsoft.com/office/drawing/2014/main" val="1485554560"/>
                  </a:ext>
                </a:extLst>
              </a:tr>
            </a:tbl>
          </a:graphicData>
        </a:graphic>
      </p:graphicFrame>
    </p:spTree>
    <p:extLst>
      <p:ext uri="{BB962C8B-B14F-4D97-AF65-F5344CB8AC3E}">
        <p14:creationId xmlns:p14="http://schemas.microsoft.com/office/powerpoint/2010/main" val="3165163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9BE1-E43A-B275-7426-9659143FDBB3}"/>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4D04E66-E991-8F11-B3D5-05A751308547}"/>
              </a:ext>
            </a:extLst>
          </p:cNvPr>
          <p:cNvSpPr>
            <a:spLocks noGrp="1"/>
          </p:cNvSpPr>
          <p:nvPr>
            <p:ph idx="1"/>
          </p:nvPr>
        </p:nvSpPr>
        <p:spPr>
          <a:xfrm>
            <a:off x="677334" y="1812246"/>
            <a:ext cx="8596668" cy="3880773"/>
          </a:xfrm>
        </p:spPr>
        <p:txBody>
          <a:bodyPr/>
          <a:lstStyle/>
          <a:p>
            <a:r>
              <a:rPr lang="en-US" dirty="0">
                <a:solidFill>
                  <a:schemeClr val="tx1"/>
                </a:solidFill>
              </a:rPr>
              <a:t>Objective</a:t>
            </a:r>
          </a:p>
          <a:p>
            <a:r>
              <a:rPr lang="en-US" dirty="0">
                <a:solidFill>
                  <a:schemeClr val="tx1"/>
                </a:solidFill>
              </a:rPr>
              <a:t>Introduction</a:t>
            </a:r>
          </a:p>
          <a:p>
            <a:r>
              <a:rPr lang="en-US" dirty="0">
                <a:solidFill>
                  <a:schemeClr val="tx1"/>
                </a:solidFill>
              </a:rPr>
              <a:t>Data Collection and Preprocessing</a:t>
            </a:r>
          </a:p>
          <a:p>
            <a:r>
              <a:rPr lang="en-US" dirty="0">
                <a:solidFill>
                  <a:schemeClr val="tx1"/>
                </a:solidFill>
              </a:rPr>
              <a:t>Algorithm Design</a:t>
            </a:r>
          </a:p>
          <a:p>
            <a:r>
              <a:rPr lang="en-US" dirty="0">
                <a:solidFill>
                  <a:schemeClr val="tx1"/>
                </a:solidFill>
              </a:rPr>
              <a:t>Anomaly Detection Logic</a:t>
            </a:r>
          </a:p>
          <a:p>
            <a:r>
              <a:rPr lang="en-US" dirty="0">
                <a:solidFill>
                  <a:schemeClr val="tx1"/>
                </a:solidFill>
              </a:rPr>
              <a:t>Processing Elements</a:t>
            </a:r>
          </a:p>
          <a:p>
            <a:r>
              <a:rPr lang="en-US" dirty="0">
                <a:solidFill>
                  <a:schemeClr val="tx1"/>
                </a:solidFill>
              </a:rPr>
              <a:t>Results</a:t>
            </a:r>
          </a:p>
          <a:p>
            <a:r>
              <a:rPr lang="en-US" dirty="0">
                <a:solidFill>
                  <a:schemeClr val="tx1"/>
                </a:solidFill>
              </a:rPr>
              <a:t>Performance Metrics</a:t>
            </a:r>
          </a:p>
          <a:p>
            <a:r>
              <a:rPr lang="en-US" dirty="0">
                <a:solidFill>
                  <a:schemeClr val="tx1"/>
                </a:solidFill>
              </a:rPr>
              <a:t>Conclusion</a:t>
            </a:r>
          </a:p>
        </p:txBody>
      </p:sp>
      <p:pic>
        <p:nvPicPr>
          <p:cNvPr id="4" name="Picture 3" descr="A blue and black graphic">
            <a:extLst>
              <a:ext uri="{FF2B5EF4-FFF2-40B4-BE49-F238E27FC236}">
                <a16:creationId xmlns:a16="http://schemas.microsoft.com/office/drawing/2014/main" id="{EFF10FE4-73F3-7673-A78E-63828E823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6" name="Footer Placeholder 5">
            <a:extLst>
              <a:ext uri="{FF2B5EF4-FFF2-40B4-BE49-F238E27FC236}">
                <a16:creationId xmlns:a16="http://schemas.microsoft.com/office/drawing/2014/main" id="{4D4C866B-C512-99E0-482C-1D4398CD3985}"/>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7" name="Slide Number Placeholder 6">
            <a:extLst>
              <a:ext uri="{FF2B5EF4-FFF2-40B4-BE49-F238E27FC236}">
                <a16:creationId xmlns:a16="http://schemas.microsoft.com/office/drawing/2014/main" id="{E287C60D-3DE0-2FD4-E459-030BC67CE419}"/>
              </a:ext>
            </a:extLst>
          </p:cNvPr>
          <p:cNvSpPr>
            <a:spLocks noGrp="1"/>
          </p:cNvSpPr>
          <p:nvPr>
            <p:ph type="sldNum" sz="quarter" idx="12"/>
          </p:nvPr>
        </p:nvSpPr>
        <p:spPr>
          <a:xfrm>
            <a:off x="11311290" y="6406486"/>
            <a:ext cx="683339" cy="365125"/>
          </a:xfrm>
        </p:spPr>
        <p:txBody>
          <a:bodyPr/>
          <a:lstStyle/>
          <a:p>
            <a:fld id="{C1CCB802-6CFB-40EC-8AE2-CBCB01F71C83}" type="slidenum">
              <a:rPr lang="en-US" sz="1200" smtClean="0">
                <a:solidFill>
                  <a:schemeClr val="tx1"/>
                </a:solidFill>
              </a:rPr>
              <a:t>2</a:t>
            </a:fld>
            <a:endParaRPr lang="en-US" sz="1200" dirty="0">
              <a:solidFill>
                <a:schemeClr val="tx1"/>
              </a:solidFill>
            </a:endParaRPr>
          </a:p>
        </p:txBody>
      </p:sp>
    </p:spTree>
    <p:extLst>
      <p:ext uri="{BB962C8B-B14F-4D97-AF65-F5344CB8AC3E}">
        <p14:creationId xmlns:p14="http://schemas.microsoft.com/office/powerpoint/2010/main" val="2473443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9126-07A8-8312-E408-0A2FA224C7D3}"/>
              </a:ext>
            </a:extLst>
          </p:cNvPr>
          <p:cNvSpPr>
            <a:spLocks noGrp="1"/>
          </p:cNvSpPr>
          <p:nvPr>
            <p:ph type="title"/>
          </p:nvPr>
        </p:nvSpPr>
        <p:spPr>
          <a:xfrm>
            <a:off x="677334" y="609600"/>
            <a:ext cx="8596668" cy="885371"/>
          </a:xfrm>
        </p:spPr>
        <p:txBody>
          <a:bodyPr>
            <a:normAutofit/>
          </a:bodyPr>
          <a:lstStyle/>
          <a:p>
            <a:r>
              <a:rPr lang="en-US" b="1" dirty="0"/>
              <a:t>OBJECTIVE</a:t>
            </a:r>
          </a:p>
        </p:txBody>
      </p:sp>
      <p:sp>
        <p:nvSpPr>
          <p:cNvPr id="3" name="Content Placeholder 2">
            <a:extLst>
              <a:ext uri="{FF2B5EF4-FFF2-40B4-BE49-F238E27FC236}">
                <a16:creationId xmlns:a16="http://schemas.microsoft.com/office/drawing/2014/main" id="{DC446A9C-0313-BBBE-8B6A-95711ADB26F1}"/>
              </a:ext>
            </a:extLst>
          </p:cNvPr>
          <p:cNvSpPr>
            <a:spLocks noGrp="1"/>
          </p:cNvSpPr>
          <p:nvPr>
            <p:ph idx="1"/>
          </p:nvPr>
        </p:nvSpPr>
        <p:spPr>
          <a:xfrm>
            <a:off x="677333" y="2160589"/>
            <a:ext cx="9141223" cy="3880773"/>
          </a:xfrm>
        </p:spPr>
        <p:txBody>
          <a:bodyPr/>
          <a:lstStyle/>
          <a:p>
            <a:pPr marL="0" indent="0" algn="just">
              <a:buNone/>
            </a:pPr>
            <a:r>
              <a:rPr lang="en-US" dirty="0">
                <a:solidFill>
                  <a:schemeClr val="tx1"/>
                </a:solidFill>
                <a:cs typeface="Times New Roman" panose="02020603050405020304" pitchFamily="18" charset="0"/>
              </a:rPr>
              <a:t>The objective of this experiment is to design and implement an Anomaly Detection system using the </a:t>
            </a:r>
            <a:r>
              <a:rPr lang="en-US" b="1" dirty="0">
                <a:solidFill>
                  <a:schemeClr val="tx1"/>
                </a:solidFill>
                <a:cs typeface="Times New Roman" panose="02020603050405020304" pitchFamily="18" charset="0"/>
              </a:rPr>
              <a:t>NEOCORTEX API </a:t>
            </a:r>
            <a:r>
              <a:rPr lang="en-US" dirty="0">
                <a:solidFill>
                  <a:schemeClr val="tx1"/>
                </a:solidFill>
                <a:cs typeface="Times New Roman" panose="02020603050405020304" pitchFamily="18" charset="0"/>
              </a:rPr>
              <a:t>framework. The system will learn multiple sequences representing patterns of normal behavior and later predict the next values in new sequences. If the predicted values deviate beyond a defined tolerance from the actual observed values, the system will detect an anomaly</a:t>
            </a:r>
            <a:r>
              <a:rPr lang="en-US" dirty="0">
                <a:cs typeface="Times New Roman" panose="02020603050405020304" pitchFamily="18" charset="0"/>
              </a:rPr>
              <a:t>.</a:t>
            </a:r>
          </a:p>
        </p:txBody>
      </p:sp>
      <p:pic>
        <p:nvPicPr>
          <p:cNvPr id="4" name="Picture 3" descr="A blue and black graphic">
            <a:extLst>
              <a:ext uri="{FF2B5EF4-FFF2-40B4-BE49-F238E27FC236}">
                <a16:creationId xmlns:a16="http://schemas.microsoft.com/office/drawing/2014/main" id="{A8641B44-9F7E-6CC5-49D5-D1C035D3E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18EA73AD-98E6-E308-BF28-878FC7719E4E}"/>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4129AE1-9EA9-4162-8ECE-EF80C84C782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3</a:t>
            </a:fld>
            <a:endParaRPr lang="en-US" sz="1200" dirty="0">
              <a:solidFill>
                <a:schemeClr val="tx1"/>
              </a:solidFill>
            </a:endParaRPr>
          </a:p>
        </p:txBody>
      </p:sp>
    </p:spTree>
    <p:extLst>
      <p:ext uri="{BB962C8B-B14F-4D97-AF65-F5344CB8AC3E}">
        <p14:creationId xmlns:p14="http://schemas.microsoft.com/office/powerpoint/2010/main" val="422506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D47D-367F-9395-17E3-900E05ECE51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CB42C60-3FA4-153A-DC98-1707CB219E21}"/>
              </a:ext>
            </a:extLst>
          </p:cNvPr>
          <p:cNvSpPr>
            <a:spLocks noGrp="1"/>
          </p:cNvSpPr>
          <p:nvPr>
            <p:ph idx="1"/>
          </p:nvPr>
        </p:nvSpPr>
        <p:spPr/>
        <p:txBody>
          <a:bodyPr/>
          <a:lstStyle/>
          <a:p>
            <a:pPr>
              <a:buFont typeface="Arial" panose="020B0604020202020204" pitchFamily="34" charset="0"/>
              <a:buChar char="•"/>
            </a:pPr>
            <a:r>
              <a:rPr lang="en-US" dirty="0">
                <a:solidFill>
                  <a:schemeClr val="tx1"/>
                </a:solidFill>
                <a:cs typeface="Times New Roman" panose="02020603050405020304" pitchFamily="18" charset="0"/>
              </a:rPr>
              <a:t>Anomaly detection is the process of identifying data points that do not conform to expected patterns.</a:t>
            </a:r>
          </a:p>
          <a:p>
            <a:pPr>
              <a:buFont typeface="Arial" panose="020B0604020202020204" pitchFamily="34" charset="0"/>
              <a:buChar char="•"/>
            </a:pPr>
            <a:r>
              <a:rPr lang="en-US" dirty="0">
                <a:solidFill>
                  <a:schemeClr val="tx1"/>
                </a:solidFill>
                <a:cs typeface="Times New Roman" panose="02020603050405020304" pitchFamily="18" charset="0"/>
              </a:rPr>
              <a:t>Using </a:t>
            </a:r>
            <a:r>
              <a:rPr lang="en-US" dirty="0" err="1">
                <a:solidFill>
                  <a:schemeClr val="tx1"/>
                </a:solidFill>
                <a:cs typeface="Times New Roman" panose="02020603050405020304" pitchFamily="18" charset="0"/>
              </a:rPr>
              <a:t>NeocortexAPI</a:t>
            </a:r>
            <a:r>
              <a:rPr lang="en-US" dirty="0">
                <a:solidFill>
                  <a:schemeClr val="tx1"/>
                </a:solidFill>
                <a:cs typeface="Times New Roman" panose="02020603050405020304" pitchFamily="18" charset="0"/>
              </a:rPr>
              <a:t>, we train models on normal sequences and detect deviations.</a:t>
            </a:r>
          </a:p>
          <a:p>
            <a:pPr>
              <a:buFont typeface="Arial" panose="020B0604020202020204" pitchFamily="34" charset="0"/>
              <a:buChar char="•"/>
            </a:pPr>
            <a:r>
              <a:rPr lang="en-US" dirty="0">
                <a:solidFill>
                  <a:schemeClr val="tx1"/>
                </a:solidFill>
                <a:cs typeface="Times New Roman" panose="02020603050405020304" pitchFamily="18" charset="0"/>
              </a:rPr>
              <a:t>Application areas: Power consumption prediction, fraud detection, sensor data monitoring, etc.</a:t>
            </a:r>
          </a:p>
          <a:p>
            <a:endParaRPr lang="en-US" dirty="0"/>
          </a:p>
        </p:txBody>
      </p:sp>
      <p:pic>
        <p:nvPicPr>
          <p:cNvPr id="4" name="Picture 3" descr="A blue and black graphic">
            <a:extLst>
              <a:ext uri="{FF2B5EF4-FFF2-40B4-BE49-F238E27FC236}">
                <a16:creationId xmlns:a16="http://schemas.microsoft.com/office/drawing/2014/main" id="{C33B82EC-B758-9386-0013-E7B3B2961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1359752D-A98C-5416-46EA-3823BDCFABD7}"/>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215B927B-9888-E5F7-78E0-C4D7FDDCE133}"/>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4</a:t>
            </a:fld>
            <a:endParaRPr lang="en-US" sz="1200" dirty="0">
              <a:solidFill>
                <a:schemeClr val="tx1"/>
              </a:solidFill>
            </a:endParaRPr>
          </a:p>
        </p:txBody>
      </p:sp>
    </p:spTree>
    <p:extLst>
      <p:ext uri="{BB962C8B-B14F-4D97-AF65-F5344CB8AC3E}">
        <p14:creationId xmlns:p14="http://schemas.microsoft.com/office/powerpoint/2010/main" val="2150134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8CA43-DEAD-7C66-58DE-6A1E0493E0B5}"/>
              </a:ext>
            </a:extLst>
          </p:cNvPr>
          <p:cNvSpPr>
            <a:spLocks noGrp="1"/>
          </p:cNvSpPr>
          <p:nvPr>
            <p:ph type="title"/>
          </p:nvPr>
        </p:nvSpPr>
        <p:spPr/>
        <p:txBody>
          <a:bodyPr/>
          <a:lstStyle/>
          <a:p>
            <a:r>
              <a:rPr lang="en-US" dirty="0"/>
              <a:t>Data Collection and Preprocessing</a:t>
            </a:r>
          </a:p>
        </p:txBody>
      </p:sp>
      <p:sp>
        <p:nvSpPr>
          <p:cNvPr id="3" name="Content Placeholder 2">
            <a:extLst>
              <a:ext uri="{FF2B5EF4-FFF2-40B4-BE49-F238E27FC236}">
                <a16:creationId xmlns:a16="http://schemas.microsoft.com/office/drawing/2014/main" id="{1D812079-E15F-0C0A-24A3-CCE21750BB95}"/>
              </a:ext>
            </a:extLst>
          </p:cNvPr>
          <p:cNvSpPr>
            <a:spLocks noGrp="1"/>
          </p:cNvSpPr>
          <p:nvPr>
            <p:ph idx="1"/>
          </p:nvPr>
        </p:nvSpPr>
        <p:spPr>
          <a:xfrm>
            <a:off x="270933" y="2117046"/>
            <a:ext cx="10759923" cy="3880773"/>
          </a:xfrm>
        </p:spPr>
        <p:txBody>
          <a:bodyPr>
            <a:normAutofit/>
          </a:bodyPr>
          <a:lstStyle/>
          <a:p>
            <a:pPr>
              <a:buFont typeface="Arial" panose="020B0604020202020204" pitchFamily="34" charset="0"/>
              <a:buChar char="•"/>
            </a:pPr>
            <a:r>
              <a:rPr lang="en-US" dirty="0">
                <a:solidFill>
                  <a:schemeClr val="tx1"/>
                </a:solidFill>
              </a:rPr>
              <a:t>Train a model using </a:t>
            </a:r>
            <a:r>
              <a:rPr lang="en-US" b="1" dirty="0">
                <a:solidFill>
                  <a:schemeClr val="tx1"/>
                </a:solidFill>
              </a:rPr>
              <a:t>multiple similar sequences</a:t>
            </a:r>
            <a:r>
              <a:rPr lang="en-US" dirty="0">
                <a:solidFill>
                  <a:schemeClr val="tx1"/>
                </a:solidFill>
              </a:rPr>
              <a:t> representing normal behavior.</a:t>
            </a:r>
          </a:p>
          <a:p>
            <a:pPr>
              <a:buFont typeface="Arial" panose="020B0604020202020204" pitchFamily="34" charset="0"/>
              <a:buChar char="•"/>
            </a:pPr>
            <a:r>
              <a:rPr lang="en-US" dirty="0">
                <a:solidFill>
                  <a:schemeClr val="tx1"/>
                </a:solidFill>
              </a:rPr>
              <a:t>Use the trained model to predict the next value in new sequences.</a:t>
            </a:r>
          </a:p>
          <a:p>
            <a:pPr>
              <a:buFont typeface="Arial" panose="020B0604020202020204" pitchFamily="34" charset="0"/>
              <a:buChar char="•"/>
            </a:pPr>
            <a:r>
              <a:rPr lang="en-US" dirty="0">
                <a:solidFill>
                  <a:schemeClr val="tx1"/>
                </a:solidFill>
              </a:rPr>
              <a:t>Compare predicted and actual values to detect </a:t>
            </a:r>
            <a:r>
              <a:rPr lang="en-US" b="1" dirty="0">
                <a:solidFill>
                  <a:schemeClr val="tx1"/>
                </a:solidFill>
              </a:rPr>
              <a:t>anomalies</a:t>
            </a:r>
            <a:r>
              <a:rPr lang="en-US" dirty="0">
                <a:solidFill>
                  <a:schemeClr val="tx1"/>
                </a:solidFill>
              </a:rPr>
              <a:t>.</a:t>
            </a:r>
          </a:p>
          <a:p>
            <a:pPr>
              <a:buFont typeface="Arial" panose="020B0604020202020204" pitchFamily="34" charset="0"/>
              <a:buChar char="•"/>
            </a:pPr>
            <a:r>
              <a:rPr lang="en-US" dirty="0">
                <a:solidFill>
                  <a:schemeClr val="tx1"/>
                </a:solidFill>
              </a:rPr>
              <a:t>Log results in a </a:t>
            </a:r>
            <a:r>
              <a:rPr lang="en-US" b="1" dirty="0">
                <a:solidFill>
                  <a:schemeClr val="tx1"/>
                </a:solidFill>
              </a:rPr>
              <a:t>CSV file</a:t>
            </a:r>
            <a:r>
              <a:rPr lang="en-US" dirty="0">
                <a:solidFill>
                  <a:schemeClr val="tx1"/>
                </a:solidFill>
              </a:rPr>
              <a:t> and generate </a:t>
            </a:r>
            <a:r>
              <a:rPr lang="en-US" b="1" dirty="0">
                <a:solidFill>
                  <a:schemeClr val="tx1"/>
                </a:solidFill>
              </a:rPr>
              <a:t>graphical representations</a:t>
            </a:r>
            <a:r>
              <a:rPr lang="en-US" dirty="0">
                <a:solidFill>
                  <a:schemeClr val="tx1"/>
                </a:solidFill>
              </a:rPr>
              <a:t>.</a:t>
            </a:r>
          </a:p>
          <a:p>
            <a:pPr>
              <a:buFont typeface="Arial" panose="020B0604020202020204" pitchFamily="34" charset="0"/>
              <a:buChar char="•"/>
            </a:pPr>
            <a:endParaRPr lang="en-US" dirty="0"/>
          </a:p>
          <a:p>
            <a:pPr marL="0" marR="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1: 22, 24, 26, 28, 26, 24, 26, 27, 29, 30, 32, 33, 30, 31, 34, 36, 35, 37, 38, 36, 37, 39, 40, 41, 43, 44</a:t>
            </a:r>
            <a:endParaRPr lang="en-US" sz="1800" dirty="0">
              <a:solidFill>
                <a:schemeClr val="tx1"/>
              </a:solidFill>
              <a:effectLst/>
              <a:latin typeface="Times New Roman" panose="02020603050405020304" pitchFamily="18" charset="0"/>
              <a:ea typeface="SimSun" panose="02010600030101010101" pitchFamily="2" charset="-122"/>
            </a:endParaRPr>
          </a:p>
          <a:p>
            <a:pPr marL="0" marR="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2: 22, 24, 25, 27, 26, 25, 26, 27, 28, 30, 31, 33, 30, 32 , 34, 36, 37, 35, 38, 36, 37, 39, 40, 41, 43, 44</a:t>
            </a:r>
            <a:endParaRPr lang="en-US" sz="1800" dirty="0">
              <a:solidFill>
                <a:schemeClr val="tx1"/>
              </a:solidFill>
              <a:effectLst/>
              <a:latin typeface="Times New Roman" panose="02020603050405020304" pitchFamily="18" charset="0"/>
              <a:ea typeface="SimSun" panose="02010600030101010101" pitchFamily="2" charset="-122"/>
            </a:endParaRPr>
          </a:p>
          <a:p>
            <a:pPr marL="0" marR="0" indent="0" algn="just"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latin typeface="Times New Roman" panose="02020603050405020304" pitchFamily="18" charset="0"/>
                <a:ea typeface="Times New Roman" panose="02020603050405020304" pitchFamily="18" charset="0"/>
              </a:rPr>
              <a:t>Sequence 3: 22, 24, 23, 24, 26, 24, 26, 28, 29, 30, 33, 34, 32, 31 , 34, 36, 35, 37, 38, 36, 37, 39, 40, 41, 43, 44</a:t>
            </a:r>
            <a:endParaRPr lang="en-US" sz="1800" dirty="0">
              <a:solidFill>
                <a:schemeClr val="tx1"/>
              </a:solidFill>
              <a:effectLst/>
              <a:latin typeface="Times New Roman" panose="02020603050405020304" pitchFamily="18" charset="0"/>
              <a:ea typeface="SimSun" panose="02010600030101010101" pitchFamily="2" charset="-122"/>
            </a:endParaRPr>
          </a:p>
          <a:p>
            <a:pPr>
              <a:buFont typeface="Arial" panose="020B0604020202020204" pitchFamily="34" charset="0"/>
              <a:buChar char="•"/>
            </a:pPr>
            <a:endParaRPr lang="en-US" dirty="0"/>
          </a:p>
          <a:p>
            <a:pPr marL="0" indent="0">
              <a:buNone/>
            </a:pPr>
            <a:endParaRPr lang="en-US" dirty="0"/>
          </a:p>
          <a:p>
            <a:endParaRPr lang="en-US" dirty="0"/>
          </a:p>
        </p:txBody>
      </p:sp>
      <p:pic>
        <p:nvPicPr>
          <p:cNvPr id="4" name="Picture 3" descr="A blue and black graphic">
            <a:extLst>
              <a:ext uri="{FF2B5EF4-FFF2-40B4-BE49-F238E27FC236}">
                <a16:creationId xmlns:a16="http://schemas.microsoft.com/office/drawing/2014/main" id="{EDF44890-1FD2-FF8D-E3A7-E0568B9C1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78507BA2-DAC6-2980-56A1-FA6CFAA0F2FA}"/>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B2A65583-CA0F-8618-A922-2F19A89BEA61}"/>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5</a:t>
            </a:fld>
            <a:endParaRPr lang="en-US" sz="1200" dirty="0">
              <a:solidFill>
                <a:schemeClr val="tx1"/>
              </a:solidFill>
            </a:endParaRPr>
          </a:p>
        </p:txBody>
      </p:sp>
    </p:spTree>
    <p:extLst>
      <p:ext uri="{BB962C8B-B14F-4D97-AF65-F5344CB8AC3E}">
        <p14:creationId xmlns:p14="http://schemas.microsoft.com/office/powerpoint/2010/main" val="3856923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44ED-D8EE-C74C-ED06-E624EB016224}"/>
              </a:ext>
            </a:extLst>
          </p:cNvPr>
          <p:cNvSpPr>
            <a:spLocks noGrp="1"/>
          </p:cNvSpPr>
          <p:nvPr>
            <p:ph type="title"/>
          </p:nvPr>
        </p:nvSpPr>
        <p:spPr/>
        <p:txBody>
          <a:bodyPr/>
          <a:lstStyle/>
          <a:p>
            <a:r>
              <a:rPr lang="en-US" dirty="0"/>
              <a:t>Algorithm Design</a:t>
            </a:r>
          </a:p>
        </p:txBody>
      </p:sp>
      <p:sp>
        <p:nvSpPr>
          <p:cNvPr id="7" name="Rectangle 4">
            <a:extLst>
              <a:ext uri="{FF2B5EF4-FFF2-40B4-BE49-F238E27FC236}">
                <a16:creationId xmlns:a16="http://schemas.microsoft.com/office/drawing/2014/main" id="{1D296DC7-1871-5391-03B6-3371CB016B5D}"/>
              </a:ext>
            </a:extLst>
          </p:cNvPr>
          <p:cNvSpPr>
            <a:spLocks noChangeArrowheads="1"/>
          </p:cNvSpPr>
          <p:nvPr/>
        </p:nvSpPr>
        <p:spPr bwMode="auto">
          <a:xfrm>
            <a:off x="677334" y="1063427"/>
            <a:ext cx="9366076"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cs typeface="Times New Roman" panose="02020603050405020304" pitchFamily="18" charset="0"/>
              </a:rPr>
              <a:t>A machine learning algorithm inspired by the human brain.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cs typeface="Times New Roman" panose="02020603050405020304" pitchFamily="18" charset="0"/>
              </a:rPr>
              <a:t>Uses spatial and temporal memory for detecting anomalies.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cs typeface="Times New Roman" panose="02020603050405020304" pitchFamily="18" charset="0"/>
              </a:rPr>
              <a:t>Key advantage: Works with streaming data in real time.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cs typeface="Times New Roman" panose="02020603050405020304" pitchFamily="18" charset="0"/>
            </a:endParaRPr>
          </a:p>
          <a:p>
            <a:pPr marL="285750" indent="-285750">
              <a:buFont typeface="Arial" panose="020B0604020202020204" pitchFamily="34" charset="0"/>
              <a:buChar char="•"/>
            </a:pPr>
            <a:r>
              <a:rPr lang="en-US" sz="1600" dirty="0">
                <a:cs typeface="Times New Roman" panose="02020603050405020304" pitchFamily="18" charset="0"/>
              </a:rPr>
              <a:t>Data preprocessing for HTM model training.</a:t>
            </a:r>
          </a:p>
          <a:p>
            <a:pPr marL="285750" indent="-285750">
              <a:buFont typeface="Arial" panose="020B0604020202020204" pitchFamily="34" charset="0"/>
              <a:buChar char="•"/>
            </a:pPr>
            <a:r>
              <a:rPr lang="en-US" sz="1600" dirty="0">
                <a:cs typeface="Times New Roman" panose="02020603050405020304" pitchFamily="18" charset="0"/>
              </a:rPr>
              <a:t>HTM core processing for learning sequences.</a:t>
            </a:r>
          </a:p>
          <a:p>
            <a:pPr marL="285750" indent="-285750">
              <a:buFont typeface="Arial" panose="020B0604020202020204" pitchFamily="34" charset="0"/>
              <a:buChar char="•"/>
            </a:pPr>
            <a:r>
              <a:rPr lang="en-US" sz="1600" dirty="0">
                <a:cs typeface="Times New Roman" panose="02020603050405020304" pitchFamily="18" charset="0"/>
              </a:rPr>
              <a:t>Anomaly scoring and alerting mechanisms.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effectLst/>
                <a:ea typeface="SimSun" panose="02010600030101010101" pitchFamily="2" charset="-122"/>
                <a:cs typeface="Times New Roman" panose="02020603050405020304" pitchFamily="18" charset="0"/>
              </a:rPr>
              <a:t>Hierarchical Temporal Memory (HTM) is a machine learning algorithm that attempts to replicate the functioning of human neocortex. The HTM architecture consists of Spatial Pooler (SP) that transforms input data into Sparse Distributed Representation (SDR) and Temporal Memory (TM) which is responsible for the learning process. Precisely, the input data are fed to the encoder that converts them to binary values that is received by the SP which then generates SDR values</a:t>
            </a:r>
            <a:r>
              <a:rPr lang="en-US" dirty="0">
                <a:ea typeface="SimSun" panose="02010600030101010101" pitchFamily="2" charset="-122"/>
                <a:cs typeface="Times New Roman" panose="02020603050405020304" pitchFamily="18" charset="0"/>
              </a:rPr>
              <a:t>.</a:t>
            </a:r>
            <a:endParaRPr kumimoji="0" lang="en-US" altLang="en-US" sz="1600" b="0" u="none" strike="noStrike" cap="none" normalizeH="0" baseline="0" dirty="0">
              <a:ln>
                <a:noFill/>
              </a:ln>
              <a:solidFill>
                <a:schemeClr val="tx1"/>
              </a:solidFill>
              <a:effectLst/>
              <a:cs typeface="Times New Roman" panose="02020603050405020304" pitchFamily="18" charset="0"/>
            </a:endParaRPr>
          </a:p>
        </p:txBody>
      </p:sp>
      <p:sp>
        <p:nvSpPr>
          <p:cNvPr id="8" name="Rectangle 5">
            <a:extLst>
              <a:ext uri="{FF2B5EF4-FFF2-40B4-BE49-F238E27FC236}">
                <a16:creationId xmlns:a16="http://schemas.microsoft.com/office/drawing/2014/main" id="{13D88910-2D97-6B6B-799E-F7282C39BA4E}"/>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6">
            <a:extLst>
              <a:ext uri="{FF2B5EF4-FFF2-40B4-BE49-F238E27FC236}">
                <a16:creationId xmlns:a16="http://schemas.microsoft.com/office/drawing/2014/main" id="{DDD3D095-B809-11F8-B64E-F6895706E5D5}"/>
              </a:ext>
            </a:extLst>
          </p:cNvPr>
          <p:cNvSpPr>
            <a:spLocks noChangeArrowheads="1"/>
          </p:cNvSpPr>
          <p:nvPr/>
        </p:nvSpPr>
        <p:spPr bwMode="auto">
          <a:xfrm>
            <a:off x="0" y="15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descr="A blue and black graphic">
            <a:extLst>
              <a:ext uri="{FF2B5EF4-FFF2-40B4-BE49-F238E27FC236}">
                <a16:creationId xmlns:a16="http://schemas.microsoft.com/office/drawing/2014/main" id="{55151377-DEEA-7F6B-3542-CF3CA7F28F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pic>
        <p:nvPicPr>
          <p:cNvPr id="13" name="Picture 12">
            <a:extLst>
              <a:ext uri="{FF2B5EF4-FFF2-40B4-BE49-F238E27FC236}">
                <a16:creationId xmlns:a16="http://schemas.microsoft.com/office/drawing/2014/main" id="{991CF239-3311-8BBE-AE69-3CF31BBFC4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6831" y="4633635"/>
            <a:ext cx="5567082" cy="1955851"/>
          </a:xfrm>
          <a:prstGeom prst="rect">
            <a:avLst/>
          </a:prstGeom>
        </p:spPr>
      </p:pic>
      <p:sp>
        <p:nvSpPr>
          <p:cNvPr id="17" name="Footer Placeholder 5">
            <a:extLst>
              <a:ext uri="{FF2B5EF4-FFF2-40B4-BE49-F238E27FC236}">
                <a16:creationId xmlns:a16="http://schemas.microsoft.com/office/drawing/2014/main" id="{E38CC8E2-5FBE-D36F-CC1F-480C9B9402E9}"/>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8" name="Slide Number Placeholder 6">
            <a:extLst>
              <a:ext uri="{FF2B5EF4-FFF2-40B4-BE49-F238E27FC236}">
                <a16:creationId xmlns:a16="http://schemas.microsoft.com/office/drawing/2014/main" id="{B09EEBDD-A646-9F05-F295-9329DC36ADF2}"/>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6</a:t>
            </a:fld>
            <a:endParaRPr lang="en-US" sz="1200" dirty="0">
              <a:solidFill>
                <a:schemeClr val="tx1"/>
              </a:solidFill>
            </a:endParaRPr>
          </a:p>
        </p:txBody>
      </p:sp>
    </p:spTree>
    <p:extLst>
      <p:ext uri="{BB962C8B-B14F-4D97-AF65-F5344CB8AC3E}">
        <p14:creationId xmlns:p14="http://schemas.microsoft.com/office/powerpoint/2010/main" val="15600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6FAAD-38BF-D2D8-60B9-1120D928811D}"/>
              </a:ext>
            </a:extLst>
          </p:cNvPr>
          <p:cNvSpPr>
            <a:spLocks noGrp="1"/>
          </p:cNvSpPr>
          <p:nvPr>
            <p:ph type="title"/>
          </p:nvPr>
        </p:nvSpPr>
        <p:spPr/>
        <p:txBody>
          <a:bodyPr/>
          <a:lstStyle/>
          <a:p>
            <a:r>
              <a:rPr lang="en-US" dirty="0"/>
              <a:t>Anomaly Detection Logic</a:t>
            </a:r>
          </a:p>
        </p:txBody>
      </p:sp>
      <p:sp>
        <p:nvSpPr>
          <p:cNvPr id="3" name="Content Placeholder 2">
            <a:extLst>
              <a:ext uri="{FF2B5EF4-FFF2-40B4-BE49-F238E27FC236}">
                <a16:creationId xmlns:a16="http://schemas.microsoft.com/office/drawing/2014/main" id="{D92EC26B-974D-33D4-7861-53EBEE8BF26F}"/>
              </a:ext>
            </a:extLst>
          </p:cNvPr>
          <p:cNvSpPr>
            <a:spLocks noGrp="1"/>
          </p:cNvSpPr>
          <p:nvPr>
            <p:ph idx="1"/>
          </p:nvPr>
        </p:nvSpPr>
        <p:spPr/>
        <p:txBody>
          <a:bodyPr/>
          <a:lstStyle/>
          <a:p>
            <a:pPr>
              <a:buFont typeface="Arial" panose="020B0604020202020204" pitchFamily="34" charset="0"/>
              <a:buChar char="•"/>
            </a:pPr>
            <a:r>
              <a:rPr lang="en-US" dirty="0">
                <a:solidFill>
                  <a:schemeClr val="tx1"/>
                </a:solidFill>
              </a:rPr>
              <a:t>Predicted value at time </a:t>
            </a:r>
            <a:r>
              <a:rPr lang="en-US" i="1" dirty="0">
                <a:solidFill>
                  <a:schemeClr val="tx1"/>
                </a:solidFill>
              </a:rPr>
              <a:t>t</a:t>
            </a:r>
            <a:r>
              <a:rPr lang="en-US" dirty="0">
                <a:solidFill>
                  <a:schemeClr val="tx1"/>
                </a:solidFill>
              </a:rPr>
              <a:t> is denoted as </a:t>
            </a:r>
            <a:r>
              <a:rPr lang="en-US" b="1" dirty="0">
                <a:solidFill>
                  <a:schemeClr val="tx1"/>
                </a:solidFill>
              </a:rPr>
              <a:t>p(t)</a:t>
            </a:r>
            <a:r>
              <a:rPr lang="en-US" dirty="0">
                <a:solidFill>
                  <a:schemeClr val="tx1"/>
                </a:solidFill>
              </a:rPr>
              <a:t>.</a:t>
            </a:r>
          </a:p>
          <a:p>
            <a:pPr>
              <a:buFont typeface="Arial" panose="020B0604020202020204" pitchFamily="34" charset="0"/>
              <a:buChar char="•"/>
            </a:pPr>
            <a:r>
              <a:rPr lang="en-US" dirty="0">
                <a:solidFill>
                  <a:schemeClr val="tx1"/>
                </a:solidFill>
              </a:rPr>
              <a:t>Actual observed value at time </a:t>
            </a:r>
            <a:r>
              <a:rPr lang="en-US" i="1" dirty="0">
                <a:solidFill>
                  <a:schemeClr val="tx1"/>
                </a:solidFill>
              </a:rPr>
              <a:t>t</a:t>
            </a:r>
            <a:r>
              <a:rPr lang="en-US" dirty="0">
                <a:solidFill>
                  <a:schemeClr val="tx1"/>
                </a:solidFill>
              </a:rPr>
              <a:t> is </a:t>
            </a:r>
            <a:r>
              <a:rPr lang="en-US" b="1" dirty="0">
                <a:solidFill>
                  <a:schemeClr val="tx1"/>
                </a:solidFill>
              </a:rPr>
              <a:t>v(t)</a:t>
            </a:r>
            <a:r>
              <a:rPr lang="en-US" dirty="0">
                <a:solidFill>
                  <a:schemeClr val="tx1"/>
                </a:solidFill>
              </a:rPr>
              <a:t>.</a:t>
            </a:r>
          </a:p>
          <a:p>
            <a:pPr>
              <a:buFont typeface="Arial" panose="020B0604020202020204" pitchFamily="34" charset="0"/>
              <a:buChar char="•"/>
            </a:pPr>
            <a:r>
              <a:rPr lang="en-US" b="1" dirty="0">
                <a:solidFill>
                  <a:schemeClr val="tx1"/>
                </a:solidFill>
              </a:rPr>
              <a:t>Anomaly Condition:</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If </a:t>
            </a:r>
            <a:r>
              <a:rPr lang="en-US" b="1" dirty="0">
                <a:solidFill>
                  <a:schemeClr val="tx1"/>
                </a:solidFill>
              </a:rPr>
              <a:t>|p(t) - v(t)| &gt; threshold</a:t>
            </a:r>
            <a:r>
              <a:rPr lang="en-US" dirty="0">
                <a:solidFill>
                  <a:schemeClr val="tx1"/>
                </a:solidFill>
              </a:rPr>
              <a:t>, then </a:t>
            </a:r>
            <a:r>
              <a:rPr lang="en-US" b="1" dirty="0">
                <a:solidFill>
                  <a:schemeClr val="tx1"/>
                </a:solidFill>
              </a:rPr>
              <a:t>Anomaly Detected</a:t>
            </a:r>
            <a:r>
              <a:rPr lang="en-US" dirty="0">
                <a:solidFill>
                  <a:schemeClr val="tx1"/>
                </a:solidFill>
              </a:rPr>
              <a:t>.</a:t>
            </a:r>
          </a:p>
          <a:p>
            <a:endParaRPr lang="en-US" dirty="0"/>
          </a:p>
        </p:txBody>
      </p:sp>
      <p:pic>
        <p:nvPicPr>
          <p:cNvPr id="4" name="Picture 3" descr="A blue and black graphic">
            <a:extLst>
              <a:ext uri="{FF2B5EF4-FFF2-40B4-BE49-F238E27FC236}">
                <a16:creationId xmlns:a16="http://schemas.microsoft.com/office/drawing/2014/main" id="{788A1CF7-C5A9-4B57-89CA-06ECAB299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A1D675D8-95C5-3A71-334C-3AF36D81DD12}"/>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0A0CE0CC-3FA7-35C6-A864-DB776FBF295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7</a:t>
            </a:fld>
            <a:endParaRPr lang="en-US" sz="1200" dirty="0">
              <a:solidFill>
                <a:schemeClr val="tx1"/>
              </a:solidFill>
            </a:endParaRPr>
          </a:p>
        </p:txBody>
      </p:sp>
    </p:spTree>
    <p:extLst>
      <p:ext uri="{BB962C8B-B14F-4D97-AF65-F5344CB8AC3E}">
        <p14:creationId xmlns:p14="http://schemas.microsoft.com/office/powerpoint/2010/main" val="1369585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FDB70AC-6F36-6AA4-D970-A576B5323AD7}"/>
              </a:ext>
            </a:extLst>
          </p:cNvPr>
          <p:cNvGraphicFramePr>
            <a:graphicFrameLocks noGrp="1"/>
          </p:cNvGraphicFramePr>
          <p:nvPr>
            <p:ph idx="1"/>
            <p:extLst>
              <p:ext uri="{D42A27DB-BD31-4B8C-83A1-F6EECF244321}">
                <p14:modId xmlns:p14="http://schemas.microsoft.com/office/powerpoint/2010/main" val="2817154975"/>
              </p:ext>
            </p:extLst>
          </p:nvPr>
        </p:nvGraphicFramePr>
        <p:xfrm>
          <a:off x="650243" y="996846"/>
          <a:ext cx="9002756" cy="5571069"/>
        </p:xfrm>
        <a:graphic>
          <a:graphicData uri="http://schemas.openxmlformats.org/drawingml/2006/table">
            <a:tbl>
              <a:tblPr firstRow="1" firstCol="1" bandRow="1">
                <a:tableStyleId>{BC89EF96-8CEA-46FF-86C4-4CE0E7609802}</a:tableStyleId>
              </a:tblPr>
              <a:tblGrid>
                <a:gridCol w="1786515">
                  <a:extLst>
                    <a:ext uri="{9D8B030D-6E8A-4147-A177-3AD203B41FA5}">
                      <a16:colId xmlns:a16="http://schemas.microsoft.com/office/drawing/2014/main" val="719373647"/>
                    </a:ext>
                  </a:extLst>
                </a:gridCol>
                <a:gridCol w="1148327">
                  <a:extLst>
                    <a:ext uri="{9D8B030D-6E8A-4147-A177-3AD203B41FA5}">
                      <a16:colId xmlns:a16="http://schemas.microsoft.com/office/drawing/2014/main" val="1855097435"/>
                    </a:ext>
                  </a:extLst>
                </a:gridCol>
                <a:gridCol w="1843972">
                  <a:extLst>
                    <a:ext uri="{9D8B030D-6E8A-4147-A177-3AD203B41FA5}">
                      <a16:colId xmlns:a16="http://schemas.microsoft.com/office/drawing/2014/main" val="605825716"/>
                    </a:ext>
                  </a:extLst>
                </a:gridCol>
                <a:gridCol w="1486916">
                  <a:extLst>
                    <a:ext uri="{9D8B030D-6E8A-4147-A177-3AD203B41FA5}">
                      <a16:colId xmlns:a16="http://schemas.microsoft.com/office/drawing/2014/main" val="337232911"/>
                    </a:ext>
                  </a:extLst>
                </a:gridCol>
                <a:gridCol w="955435">
                  <a:extLst>
                    <a:ext uri="{9D8B030D-6E8A-4147-A177-3AD203B41FA5}">
                      <a16:colId xmlns:a16="http://schemas.microsoft.com/office/drawing/2014/main" val="3149329642"/>
                    </a:ext>
                  </a:extLst>
                </a:gridCol>
                <a:gridCol w="1004684">
                  <a:extLst>
                    <a:ext uri="{9D8B030D-6E8A-4147-A177-3AD203B41FA5}">
                      <a16:colId xmlns:a16="http://schemas.microsoft.com/office/drawing/2014/main" val="1709032492"/>
                    </a:ext>
                  </a:extLst>
                </a:gridCol>
                <a:gridCol w="776907">
                  <a:extLst>
                    <a:ext uri="{9D8B030D-6E8A-4147-A177-3AD203B41FA5}">
                      <a16:colId xmlns:a16="http://schemas.microsoft.com/office/drawing/2014/main" val="3175701100"/>
                    </a:ext>
                  </a:extLst>
                </a:gridCol>
              </a:tblGrid>
              <a:tr h="441273">
                <a:tc>
                  <a:txBody>
                    <a:bodyPr/>
                    <a:lstStyle/>
                    <a:p>
                      <a:pPr marL="0" marR="0" algn="just">
                        <a:buNone/>
                      </a:pPr>
                      <a:r>
                        <a:rPr lang="en-US" sz="1300" dirty="0">
                          <a:effectLst/>
                        </a:rPr>
                        <a:t>Processing Element</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Next Value</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Predicted Sequence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Similarity Score</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Anomaly</a:t>
                      </a:r>
                      <a:endParaRPr lang="en-US" sz="1700">
                        <a:effectLst/>
                      </a:endParaRPr>
                    </a:p>
                    <a:p>
                      <a:pPr marL="0" marR="0" algn="just">
                        <a:buNone/>
                      </a:pPr>
                      <a:r>
                        <a:rPr lang="en-US" sz="1300">
                          <a:effectLst/>
                        </a:rPr>
                        <a:t>Flag</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Expected</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Found</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250781085"/>
                  </a:ext>
                </a:extLst>
              </a:tr>
              <a:tr h="244276">
                <a:tc>
                  <a:txBody>
                    <a:bodyPr/>
                    <a:lstStyle/>
                    <a:p>
                      <a:pPr marL="0" marR="0" algn="just">
                        <a:buNone/>
                      </a:pPr>
                      <a:r>
                        <a:rPr lang="en-US" sz="1300">
                          <a:effectLst/>
                        </a:rPr>
                        <a:t>22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78630262"/>
                  </a:ext>
                </a:extLst>
              </a:tr>
              <a:tr h="244276">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23</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59485461"/>
                  </a:ext>
                </a:extLst>
              </a:tr>
              <a:tr h="244276">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56.45</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924438814"/>
                  </a:ext>
                </a:extLst>
              </a:tr>
              <a:tr h="244276">
                <a:tc>
                  <a:txBody>
                    <a:bodyPr/>
                    <a:lstStyle/>
                    <a:p>
                      <a:pPr marL="0" marR="0" algn="just">
                        <a:buNone/>
                      </a:pPr>
                      <a:r>
                        <a:rPr lang="en-US" sz="1300">
                          <a:effectLst/>
                        </a:rPr>
                        <a:t>28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Yes</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011702287"/>
                  </a:ext>
                </a:extLst>
              </a:tr>
              <a:tr h="244276">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67.5</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229254160"/>
                  </a:ext>
                </a:extLst>
              </a:tr>
              <a:tr h="244276">
                <a:tc>
                  <a:txBody>
                    <a:bodyPr/>
                    <a:lstStyle/>
                    <a:p>
                      <a:pPr marL="0" marR="0" algn="just">
                        <a:buNone/>
                      </a:pPr>
                      <a:r>
                        <a:rPr lang="en-US" sz="1300">
                          <a:effectLst/>
                        </a:rPr>
                        <a:t>26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27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58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709649551"/>
                  </a:ext>
                </a:extLst>
              </a:tr>
              <a:tr h="244276">
                <a:tc>
                  <a:txBody>
                    <a:bodyPr/>
                    <a:lstStyle/>
                    <a:p>
                      <a:pPr marL="0" marR="0" algn="just">
                        <a:buNone/>
                      </a:pPr>
                      <a:r>
                        <a:rPr lang="en-US" sz="1300">
                          <a:effectLst/>
                        </a:rPr>
                        <a:t>27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Skip</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227585133"/>
                  </a:ext>
                </a:extLst>
              </a:tr>
              <a:tr h="244276">
                <a:tc>
                  <a:txBody>
                    <a:bodyPr/>
                    <a:lstStyle/>
                    <a:p>
                      <a:pPr marL="0" marR="0" algn="just">
                        <a:buNone/>
                      </a:pPr>
                      <a:r>
                        <a:rPr lang="en-US" sz="1300">
                          <a:effectLst/>
                        </a:rPr>
                        <a:t>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89.29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98691095"/>
                  </a:ext>
                </a:extLst>
              </a:tr>
              <a:tr h="244276">
                <a:tc>
                  <a:txBody>
                    <a:bodyPr/>
                    <a:lstStyle/>
                    <a:p>
                      <a:pPr marL="0" marR="0" algn="just">
                        <a:buNone/>
                      </a:pPr>
                      <a:r>
                        <a:rPr lang="en-US" sz="1300">
                          <a:effectLst/>
                        </a:rPr>
                        <a:t>30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33</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219405037"/>
                  </a:ext>
                </a:extLst>
              </a:tr>
              <a:tr h="244276">
                <a:tc>
                  <a:txBody>
                    <a:bodyPr/>
                    <a:lstStyle/>
                    <a:p>
                      <a:pPr marL="0" marR="0" algn="just">
                        <a:buNone/>
                      </a:pPr>
                      <a:r>
                        <a:rPr lang="en-US" sz="1300">
                          <a:effectLst/>
                        </a:rPr>
                        <a:t>32</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88.89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Yes</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14</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799907280"/>
                  </a:ext>
                </a:extLst>
              </a:tr>
              <a:tr h="244276">
                <a:tc>
                  <a:txBody>
                    <a:bodyPr/>
                    <a:lstStyle/>
                    <a:p>
                      <a:pPr marL="0" marR="0" algn="just">
                        <a:buNone/>
                      </a:pPr>
                      <a:r>
                        <a:rPr lang="en-US" sz="1300">
                          <a:effectLst/>
                        </a:rPr>
                        <a:t>31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80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029663276"/>
                  </a:ext>
                </a:extLst>
              </a:tr>
              <a:tr h="244276">
                <a:tc>
                  <a:txBody>
                    <a:bodyPr/>
                    <a:lstStyle/>
                    <a:p>
                      <a:pPr marL="0" marR="0" algn="just">
                        <a:buNone/>
                      </a:pPr>
                      <a:r>
                        <a:rPr lang="en-US" sz="1300" dirty="0">
                          <a:effectLst/>
                        </a:rPr>
                        <a:t>34</a:t>
                      </a:r>
                      <a:endParaRPr lang="en-US" sz="1700" dirty="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969437333"/>
                  </a:ext>
                </a:extLst>
              </a:tr>
              <a:tr h="244276">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35</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35</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399394468"/>
                  </a:ext>
                </a:extLst>
              </a:tr>
              <a:tr h="244276">
                <a:tc>
                  <a:txBody>
                    <a:bodyPr/>
                    <a:lstStyle/>
                    <a:p>
                      <a:pPr marL="0" marR="0" algn="just">
                        <a:buNone/>
                      </a:pPr>
                      <a:r>
                        <a:rPr lang="en-US" sz="1300">
                          <a:effectLst/>
                        </a:rPr>
                        <a:t>35</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96408028"/>
                  </a:ext>
                </a:extLst>
              </a:tr>
              <a:tr h="244276">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4024744295"/>
                  </a:ext>
                </a:extLst>
              </a:tr>
              <a:tr h="244276">
                <a:tc>
                  <a:txBody>
                    <a:bodyPr/>
                    <a:lstStyle/>
                    <a:p>
                      <a:pPr marL="0" marR="0" algn="just">
                        <a:buNone/>
                      </a:pPr>
                      <a:r>
                        <a:rPr lang="en-US" sz="1300">
                          <a:effectLst/>
                        </a:rPr>
                        <a:t>38</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50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36</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50</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854623346"/>
                  </a:ext>
                </a:extLst>
              </a:tr>
              <a:tr h="244276">
                <a:tc>
                  <a:txBody>
                    <a:bodyPr/>
                    <a:lstStyle/>
                    <a:p>
                      <a:pPr marL="0" marR="0" algn="just">
                        <a:buNone/>
                      </a:pPr>
                      <a:r>
                        <a:rPr lang="en-US" sz="1300">
                          <a:effectLst/>
                        </a:rPr>
                        <a:t>37</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Skip</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309977328"/>
                  </a:ext>
                </a:extLst>
              </a:tr>
              <a:tr h="244276">
                <a:tc>
                  <a:txBody>
                    <a:bodyPr/>
                    <a:lstStyle/>
                    <a:p>
                      <a:pPr marL="0" marR="0" algn="just">
                        <a:buNone/>
                      </a:pPr>
                      <a:r>
                        <a:rPr lang="en-US" sz="1300">
                          <a:effectLst/>
                        </a:rPr>
                        <a:t>39</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1518685816"/>
                  </a:ext>
                </a:extLst>
              </a:tr>
              <a:tr h="244276">
                <a:tc>
                  <a:txBody>
                    <a:bodyPr/>
                    <a:lstStyle/>
                    <a:p>
                      <a:pPr marL="0" marR="0" algn="just">
                        <a:buNone/>
                      </a:pPr>
                      <a:r>
                        <a:rPr lang="en-US" sz="1300">
                          <a:effectLst/>
                        </a:rPr>
                        <a:t>40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844833371"/>
                  </a:ext>
                </a:extLst>
              </a:tr>
              <a:tr h="244276">
                <a:tc>
                  <a:txBody>
                    <a:bodyPr/>
                    <a:lstStyle/>
                    <a:p>
                      <a:pPr marL="0" marR="0" algn="just">
                        <a:buNone/>
                      </a:pPr>
                      <a:r>
                        <a:rPr lang="en-US" sz="1300">
                          <a:effectLst/>
                        </a:rPr>
                        <a:t>41</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43</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43</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2564096479"/>
                  </a:ext>
                </a:extLst>
              </a:tr>
              <a:tr h="244276">
                <a:tc>
                  <a:txBody>
                    <a:bodyPr/>
                    <a:lstStyle/>
                    <a:p>
                      <a:pPr marL="0" marR="0" algn="just">
                        <a:buNone/>
                      </a:pPr>
                      <a:r>
                        <a:rPr lang="en-US" sz="1300">
                          <a:effectLst/>
                        </a:rPr>
                        <a:t>43</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44</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100</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No</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a:effectLst/>
                        </a:rPr>
                        <a:t> </a:t>
                      </a:r>
                      <a:endParaRPr lang="en-US" sz="1700">
                        <a:effectLst/>
                        <a:latin typeface="Times New Roman" panose="02020603050405020304" pitchFamily="18" charset="0"/>
                        <a:ea typeface="SimSun" panose="02010600030101010101" pitchFamily="2" charset="-122"/>
                      </a:endParaRPr>
                    </a:p>
                  </a:txBody>
                  <a:tcPr marL="88649" marR="88649" marT="0" marB="0"/>
                </a:tc>
                <a:tc>
                  <a:txBody>
                    <a:bodyPr/>
                    <a:lstStyle/>
                    <a:p>
                      <a:pPr marL="0" marR="0" algn="just">
                        <a:buNone/>
                      </a:pPr>
                      <a:r>
                        <a:rPr lang="en-US" sz="1300" dirty="0">
                          <a:effectLst/>
                        </a:rPr>
                        <a:t> </a:t>
                      </a:r>
                      <a:endParaRPr lang="en-US" sz="1700" dirty="0">
                        <a:effectLst/>
                        <a:latin typeface="Times New Roman" panose="02020603050405020304" pitchFamily="18" charset="0"/>
                        <a:ea typeface="SimSun" panose="02010600030101010101" pitchFamily="2" charset="-122"/>
                      </a:endParaRPr>
                    </a:p>
                  </a:txBody>
                  <a:tcPr marL="88649" marR="88649" marT="0" marB="0"/>
                </a:tc>
                <a:extLst>
                  <a:ext uri="{0D108BD9-81ED-4DB2-BD59-A6C34878D82A}">
                    <a16:rowId xmlns:a16="http://schemas.microsoft.com/office/drawing/2014/main" val="38827703"/>
                  </a:ext>
                </a:extLst>
              </a:tr>
            </a:tbl>
          </a:graphicData>
        </a:graphic>
      </p:graphicFrame>
      <p:pic>
        <p:nvPicPr>
          <p:cNvPr id="5" name="Picture 4" descr="A blue and black graphic">
            <a:extLst>
              <a:ext uri="{FF2B5EF4-FFF2-40B4-BE49-F238E27FC236}">
                <a16:creationId xmlns:a16="http://schemas.microsoft.com/office/drawing/2014/main" id="{712C8FA4-33F0-BCBE-0B3C-8C467D2D6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6" name="Title 1">
            <a:extLst>
              <a:ext uri="{FF2B5EF4-FFF2-40B4-BE49-F238E27FC236}">
                <a16:creationId xmlns:a16="http://schemas.microsoft.com/office/drawing/2014/main" id="{CA7554C7-C95F-1A1E-5FE5-7F0D7BA524D5}"/>
              </a:ext>
            </a:extLst>
          </p:cNvPr>
          <p:cNvSpPr>
            <a:spLocks noGrp="1"/>
          </p:cNvSpPr>
          <p:nvPr>
            <p:ph type="title"/>
          </p:nvPr>
        </p:nvSpPr>
        <p:spPr>
          <a:xfrm>
            <a:off x="640919" y="290085"/>
            <a:ext cx="8596668" cy="1320800"/>
          </a:xfrm>
        </p:spPr>
        <p:txBody>
          <a:bodyPr/>
          <a:lstStyle/>
          <a:p>
            <a:r>
              <a:rPr lang="en-US" dirty="0"/>
              <a:t>Processing Elements</a:t>
            </a:r>
          </a:p>
        </p:txBody>
      </p:sp>
      <p:sp>
        <p:nvSpPr>
          <p:cNvPr id="12" name="Footer Placeholder 5">
            <a:extLst>
              <a:ext uri="{FF2B5EF4-FFF2-40B4-BE49-F238E27FC236}">
                <a16:creationId xmlns:a16="http://schemas.microsoft.com/office/drawing/2014/main" id="{59AFCC4A-C2F0-C2F5-CDDD-717B812C5537}"/>
              </a:ext>
            </a:extLst>
          </p:cNvPr>
          <p:cNvSpPr>
            <a:spLocks noGrp="1"/>
          </p:cNvSpPr>
          <p:nvPr>
            <p:ph type="ftr" sz="quarter" idx="11"/>
          </p:nvPr>
        </p:nvSpPr>
        <p:spPr>
          <a:xfrm>
            <a:off x="452532" y="6492875"/>
            <a:ext cx="6297612" cy="365125"/>
          </a:xfrm>
        </p:spPr>
        <p:txBody>
          <a:bodyPr/>
          <a:lstStyle/>
          <a:p>
            <a:r>
              <a:rPr lang="en-US" sz="1200" i="1" dirty="0">
                <a:solidFill>
                  <a:schemeClr val="tx1"/>
                </a:solidFill>
              </a:rPr>
              <a:t>Frankfurt University Of Applied Sciences, 2024/25</a:t>
            </a:r>
          </a:p>
        </p:txBody>
      </p:sp>
      <p:sp>
        <p:nvSpPr>
          <p:cNvPr id="14" name="Slide Number Placeholder 6">
            <a:extLst>
              <a:ext uri="{FF2B5EF4-FFF2-40B4-BE49-F238E27FC236}">
                <a16:creationId xmlns:a16="http://schemas.microsoft.com/office/drawing/2014/main" id="{4F054C6F-BA18-FAC8-1A01-93A71129D00A}"/>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8</a:t>
            </a:fld>
            <a:endParaRPr lang="en-US" sz="1200" dirty="0">
              <a:solidFill>
                <a:schemeClr val="tx1"/>
              </a:solidFill>
            </a:endParaRPr>
          </a:p>
        </p:txBody>
      </p:sp>
    </p:spTree>
    <p:extLst>
      <p:ext uri="{BB962C8B-B14F-4D97-AF65-F5344CB8AC3E}">
        <p14:creationId xmlns:p14="http://schemas.microsoft.com/office/powerpoint/2010/main" val="4094232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4FF95-5671-94DC-6B4C-052DD592B798}"/>
              </a:ext>
            </a:extLst>
          </p:cNvPr>
          <p:cNvSpPr>
            <a:spLocks noGrp="1"/>
          </p:cNvSpPr>
          <p:nvPr>
            <p:ph type="title"/>
          </p:nvPr>
        </p:nvSpPr>
        <p:spPr>
          <a:xfrm>
            <a:off x="838200" y="184805"/>
            <a:ext cx="10515600" cy="1505883"/>
          </a:xfrm>
        </p:spPr>
        <p:txBody>
          <a:bodyPr anchor="ctr">
            <a:normAutofit/>
          </a:bodyPr>
          <a:lstStyle/>
          <a:p>
            <a:r>
              <a:rPr lang="en-US" sz="5200" dirty="0"/>
              <a:t>Result</a:t>
            </a:r>
          </a:p>
        </p:txBody>
      </p:sp>
      <p:pic>
        <p:nvPicPr>
          <p:cNvPr id="4" name="Picture 3" descr="A graph showing a number of different colored lines">
            <a:extLst>
              <a:ext uri="{FF2B5EF4-FFF2-40B4-BE49-F238E27FC236}">
                <a16:creationId xmlns:a16="http://schemas.microsoft.com/office/drawing/2014/main" id="{AC882C45-61F9-119B-510F-36C30C98A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154" y="1266669"/>
            <a:ext cx="11137691" cy="5598826"/>
          </a:xfrm>
          <a:prstGeom prst="rect">
            <a:avLst/>
          </a:prstGeom>
        </p:spPr>
      </p:pic>
      <p:pic>
        <p:nvPicPr>
          <p:cNvPr id="5" name="Picture 4" descr="A blue and black graphic">
            <a:extLst>
              <a:ext uri="{FF2B5EF4-FFF2-40B4-BE49-F238E27FC236}">
                <a16:creationId xmlns:a16="http://schemas.microsoft.com/office/drawing/2014/main" id="{516D12AB-8C35-C775-6862-9F98904F7D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10" name="Footer Placeholder 5">
            <a:extLst>
              <a:ext uri="{FF2B5EF4-FFF2-40B4-BE49-F238E27FC236}">
                <a16:creationId xmlns:a16="http://schemas.microsoft.com/office/drawing/2014/main" id="{46EEC960-F75F-AA38-6D24-63722FEBFF9C}"/>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1" name="Slide Number Placeholder 6">
            <a:extLst>
              <a:ext uri="{FF2B5EF4-FFF2-40B4-BE49-F238E27FC236}">
                <a16:creationId xmlns:a16="http://schemas.microsoft.com/office/drawing/2014/main" id="{5C2C57D5-0D54-CA91-631F-E61AF8795690}"/>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9</a:t>
            </a:fld>
            <a:endParaRPr lang="en-US" sz="1200" dirty="0">
              <a:solidFill>
                <a:schemeClr val="tx1"/>
              </a:solidFill>
            </a:endParaRPr>
          </a:p>
        </p:txBody>
      </p:sp>
    </p:spTree>
    <p:extLst>
      <p:ext uri="{BB962C8B-B14F-4D97-AF65-F5344CB8AC3E}">
        <p14:creationId xmlns:p14="http://schemas.microsoft.com/office/powerpoint/2010/main" val="1559627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73FD0-088B-E3BE-5A9E-3AA7E8E067E5}"/>
              </a:ext>
            </a:extLst>
          </p:cNvPr>
          <p:cNvSpPr>
            <a:spLocks noGrp="1"/>
          </p:cNvSpPr>
          <p:nvPr>
            <p:ph type="title"/>
          </p:nvPr>
        </p:nvSpPr>
        <p:spPr/>
        <p:txBody>
          <a:bodyPr/>
          <a:lstStyle/>
          <a:p>
            <a:r>
              <a:rPr lang="en-US" dirty="0"/>
              <a:t>Performance Metrics</a:t>
            </a:r>
          </a:p>
        </p:txBody>
      </p:sp>
      <p:graphicFrame>
        <p:nvGraphicFramePr>
          <p:cNvPr id="5" name="Content Placeholder 4">
            <a:extLst>
              <a:ext uri="{FF2B5EF4-FFF2-40B4-BE49-F238E27FC236}">
                <a16:creationId xmlns:a16="http://schemas.microsoft.com/office/drawing/2014/main" id="{4A02B98F-83E0-BE2D-0865-0D8DD6A215DF}"/>
              </a:ext>
            </a:extLst>
          </p:cNvPr>
          <p:cNvGraphicFramePr>
            <a:graphicFrameLocks noGrp="1"/>
          </p:cNvGraphicFramePr>
          <p:nvPr>
            <p:ph idx="1"/>
            <p:extLst>
              <p:ext uri="{D42A27DB-BD31-4B8C-83A1-F6EECF244321}">
                <p14:modId xmlns:p14="http://schemas.microsoft.com/office/powerpoint/2010/main" val="2616629884"/>
              </p:ext>
            </p:extLst>
          </p:nvPr>
        </p:nvGraphicFramePr>
        <p:xfrm>
          <a:off x="677863" y="2414588"/>
          <a:ext cx="9080734" cy="1478280"/>
        </p:xfrm>
        <a:graphic>
          <a:graphicData uri="http://schemas.openxmlformats.org/drawingml/2006/table">
            <a:tbl>
              <a:tblPr firstRow="1" bandRow="1">
                <a:tableStyleId>{5C22544A-7EE6-4342-B048-85BDC9FD1C3A}</a:tableStyleId>
              </a:tblPr>
              <a:tblGrid>
                <a:gridCol w="4540367">
                  <a:extLst>
                    <a:ext uri="{9D8B030D-6E8A-4147-A177-3AD203B41FA5}">
                      <a16:colId xmlns:a16="http://schemas.microsoft.com/office/drawing/2014/main" val="2534559833"/>
                    </a:ext>
                  </a:extLst>
                </a:gridCol>
                <a:gridCol w="4540367">
                  <a:extLst>
                    <a:ext uri="{9D8B030D-6E8A-4147-A177-3AD203B41FA5}">
                      <a16:colId xmlns:a16="http://schemas.microsoft.com/office/drawing/2014/main" val="2396147029"/>
                    </a:ext>
                  </a:extLst>
                </a:gridCol>
              </a:tblGrid>
              <a:tr h="0">
                <a:tc>
                  <a:txBody>
                    <a:bodyPr/>
                    <a:lstStyle/>
                    <a:p>
                      <a:r>
                        <a:rPr lang="en-US" dirty="0"/>
                        <a:t>Metric</a:t>
                      </a:r>
                    </a:p>
                  </a:txBody>
                  <a:tcPr/>
                </a:tc>
                <a:tc>
                  <a:txBody>
                    <a:bodyPr/>
                    <a:lstStyle/>
                    <a:p>
                      <a:r>
                        <a:rPr lang="en-US" dirty="0"/>
                        <a:t>Value</a:t>
                      </a:r>
                    </a:p>
                  </a:txBody>
                  <a:tcPr/>
                </a:tc>
                <a:extLst>
                  <a:ext uri="{0D108BD9-81ED-4DB2-BD59-A6C34878D82A}">
                    <a16:rowId xmlns:a16="http://schemas.microsoft.com/office/drawing/2014/main" val="3650986174"/>
                  </a:ext>
                </a:extLst>
              </a:tr>
              <a:tr h="370840">
                <a:tc>
                  <a:txBody>
                    <a:bodyPr/>
                    <a:lstStyle/>
                    <a:p>
                      <a:r>
                        <a:rPr lang="en-US" sz="1800" b="0" i="0" kern="1200" dirty="0">
                          <a:solidFill>
                            <a:schemeClr val="dk1"/>
                          </a:solidFill>
                          <a:effectLst/>
                          <a:latin typeface="+mn-lt"/>
                          <a:ea typeface="+mn-ea"/>
                          <a:cs typeface="+mn-cs"/>
                        </a:rPr>
                        <a:t>False Negative Rate</a:t>
                      </a:r>
                      <a:endParaRPr lang="en-US" dirty="0"/>
                    </a:p>
                  </a:txBody>
                  <a:tcPr/>
                </a:tc>
                <a:tc>
                  <a:txBody>
                    <a:bodyPr/>
                    <a:lstStyle/>
                    <a:p>
                      <a:r>
                        <a:rPr lang="en-US" dirty="0"/>
                        <a:t>0</a:t>
                      </a:r>
                    </a:p>
                  </a:txBody>
                  <a:tcPr/>
                </a:tc>
                <a:extLst>
                  <a:ext uri="{0D108BD9-81ED-4DB2-BD59-A6C34878D82A}">
                    <a16:rowId xmlns:a16="http://schemas.microsoft.com/office/drawing/2014/main" val="3889617300"/>
                  </a:ext>
                </a:extLst>
              </a:tr>
              <a:tr h="370840">
                <a:tc>
                  <a:txBody>
                    <a:bodyPr/>
                    <a:lstStyle/>
                    <a:p>
                      <a:r>
                        <a:rPr lang="en-US" sz="1800" b="0" i="0" kern="1200" dirty="0">
                          <a:solidFill>
                            <a:schemeClr val="dk1"/>
                          </a:solidFill>
                          <a:effectLst/>
                          <a:latin typeface="+mn-lt"/>
                          <a:ea typeface="+mn-ea"/>
                          <a:cs typeface="+mn-cs"/>
                        </a:rPr>
                        <a:t>False Positive Rate</a:t>
                      </a:r>
                      <a:endParaRPr lang="en-US" dirty="0"/>
                    </a:p>
                  </a:txBody>
                  <a:tcPr/>
                </a:tc>
                <a:tc>
                  <a:txBody>
                    <a:bodyPr/>
                    <a:lstStyle/>
                    <a:p>
                      <a:r>
                        <a:rPr lang="en-US" dirty="0"/>
                        <a:t>0</a:t>
                      </a:r>
                    </a:p>
                  </a:txBody>
                  <a:tcPr/>
                </a:tc>
                <a:extLst>
                  <a:ext uri="{0D108BD9-81ED-4DB2-BD59-A6C34878D82A}">
                    <a16:rowId xmlns:a16="http://schemas.microsoft.com/office/drawing/2014/main" val="1235414629"/>
                  </a:ext>
                </a:extLst>
              </a:tr>
              <a:tr h="370840">
                <a:tc>
                  <a:txBody>
                    <a:bodyPr/>
                    <a:lstStyle/>
                    <a:p>
                      <a:r>
                        <a:rPr lang="en-US" dirty="0"/>
                        <a:t>Anomaly Recall</a:t>
                      </a:r>
                    </a:p>
                  </a:txBody>
                  <a:tcPr/>
                </a:tc>
                <a:tc>
                  <a:txBody>
                    <a:bodyPr/>
                    <a:lstStyle/>
                    <a:p>
                      <a:r>
                        <a:rPr lang="en-US" dirty="0"/>
                        <a:t>100%</a:t>
                      </a:r>
                    </a:p>
                  </a:txBody>
                  <a:tcPr/>
                </a:tc>
                <a:extLst>
                  <a:ext uri="{0D108BD9-81ED-4DB2-BD59-A6C34878D82A}">
                    <a16:rowId xmlns:a16="http://schemas.microsoft.com/office/drawing/2014/main" val="1244578449"/>
                  </a:ext>
                </a:extLst>
              </a:tr>
            </a:tbl>
          </a:graphicData>
        </a:graphic>
      </p:graphicFrame>
      <p:pic>
        <p:nvPicPr>
          <p:cNvPr id="4" name="Picture 3" descr="A blue and black graphic">
            <a:extLst>
              <a:ext uri="{FF2B5EF4-FFF2-40B4-BE49-F238E27FC236}">
                <a16:creationId xmlns:a16="http://schemas.microsoft.com/office/drawing/2014/main" id="{422CF9D9-20BF-82D6-44B7-FD86C2570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6" name="Title 1">
            <a:extLst>
              <a:ext uri="{FF2B5EF4-FFF2-40B4-BE49-F238E27FC236}">
                <a16:creationId xmlns:a16="http://schemas.microsoft.com/office/drawing/2014/main" id="{C9C36301-1B08-0422-857B-4CC1257AD434}"/>
              </a:ext>
            </a:extLst>
          </p:cNvPr>
          <p:cNvSpPr txBox="1">
            <a:spLocks/>
          </p:cNvSpPr>
          <p:nvPr/>
        </p:nvSpPr>
        <p:spPr>
          <a:xfrm>
            <a:off x="547915" y="4377056"/>
            <a:ext cx="10515600" cy="1505883"/>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tx1"/>
                </a:solidFill>
              </a:rPr>
              <a:t>Project Repository</a:t>
            </a:r>
            <a:br>
              <a:rPr lang="en-US" sz="2400" dirty="0">
                <a:solidFill>
                  <a:schemeClr val="tx1"/>
                </a:solidFill>
              </a:rPr>
            </a:br>
            <a:r>
              <a:rPr lang="en-US" sz="1600" i="1" dirty="0">
                <a:solidFill>
                  <a:schemeClr val="tx1"/>
                </a:solidFill>
                <a:hlinkClick r:id="rId3"/>
              </a:rPr>
              <a:t>https://github.com/Muhammad-Talha-S/synergy-neocortex-ad/tree/master/source/MySEProject </a:t>
            </a:r>
            <a:endParaRPr lang="en-US" sz="2400" i="1" dirty="0">
              <a:solidFill>
                <a:schemeClr val="tx1"/>
              </a:solidFill>
            </a:endParaRPr>
          </a:p>
        </p:txBody>
      </p:sp>
      <p:sp>
        <p:nvSpPr>
          <p:cNvPr id="10" name="Footer Placeholder 5">
            <a:extLst>
              <a:ext uri="{FF2B5EF4-FFF2-40B4-BE49-F238E27FC236}">
                <a16:creationId xmlns:a16="http://schemas.microsoft.com/office/drawing/2014/main" id="{E30EBA8C-5640-8E55-64F2-EFC0A000538C}"/>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11" name="Slide Number Placeholder 6">
            <a:extLst>
              <a:ext uri="{FF2B5EF4-FFF2-40B4-BE49-F238E27FC236}">
                <a16:creationId xmlns:a16="http://schemas.microsoft.com/office/drawing/2014/main" id="{9D2EB37E-6633-9069-6B87-1EEB8342F64E}"/>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10</a:t>
            </a:fld>
            <a:endParaRPr lang="en-US" sz="1200" dirty="0">
              <a:solidFill>
                <a:schemeClr val="tx1"/>
              </a:solidFill>
            </a:endParaRPr>
          </a:p>
        </p:txBody>
      </p:sp>
    </p:spTree>
    <p:extLst>
      <p:ext uri="{BB962C8B-B14F-4D97-AF65-F5344CB8AC3E}">
        <p14:creationId xmlns:p14="http://schemas.microsoft.com/office/powerpoint/2010/main" val="1780651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90F4-750F-4B4C-4D02-9D1469370B6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73DFCBD-CBEF-0AC2-71F0-3233E3361F4D}"/>
              </a:ext>
            </a:extLst>
          </p:cNvPr>
          <p:cNvSpPr>
            <a:spLocks noGrp="1"/>
          </p:cNvSpPr>
          <p:nvPr>
            <p:ph idx="1"/>
          </p:nvPr>
        </p:nvSpPr>
        <p:spPr>
          <a:xfrm>
            <a:off x="677334" y="2160590"/>
            <a:ext cx="8596668" cy="2767012"/>
          </a:xfrm>
        </p:spPr>
        <p:txBody>
          <a:bodyPr/>
          <a:lstStyle/>
          <a:p>
            <a:pPr marL="0" marR="0" algn="l" latinLnBrk="1">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We present a working HTM implementation for temporal anomaly detection, demonstrating effective pattern learning through spatial-temporal processing. Future work will address:</a:t>
            </a:r>
            <a:endParaRPr lang="en-US" sz="1800" dirty="0">
              <a:solidFill>
                <a:schemeClr val="tx1"/>
              </a:solidFill>
              <a:effectLst/>
              <a:ea typeface="SimSun" panose="02010600030101010101" pitchFamily="2" charset="-122"/>
            </a:endParaRPr>
          </a:p>
          <a:p>
            <a:pPr marL="342900" marR="0" lvl="0" indent="-342900" algn="l" latinLnBrk="1">
              <a:buSzPts val="1000"/>
              <a:buFont typeface="Symbol" panose="05050102010706020507" pitchFamily="18" charset="2"/>
              <a:buChar char=""/>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Dynamic threshold adaptation</a:t>
            </a:r>
            <a:endParaRPr lang="en-US" sz="1800" dirty="0">
              <a:solidFill>
                <a:schemeClr val="tx1"/>
              </a:solidFill>
              <a:effectLst/>
              <a:ea typeface="SimSun" panose="02010600030101010101" pitchFamily="2" charset="-122"/>
            </a:endParaRPr>
          </a:p>
          <a:p>
            <a:pPr marL="342900" marR="0" lvl="0" indent="-342900" algn="l" latinLnBrk="1">
              <a:buSzPts val="1000"/>
              <a:buFont typeface="Symbol" panose="05050102010706020507" pitchFamily="18" charset="2"/>
              <a:buChar char=""/>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Distributed training</a:t>
            </a:r>
            <a:endParaRPr lang="en-US" sz="1800" dirty="0">
              <a:solidFill>
                <a:schemeClr val="tx1"/>
              </a:solidFill>
              <a:effectLst/>
              <a:ea typeface="SimSun" panose="02010600030101010101" pitchFamily="2" charset="-122"/>
            </a:endParaRPr>
          </a:p>
          <a:p>
            <a:pPr marL="342900" marR="0" lvl="0" indent="-342900" algn="l" latinLnBrk="1">
              <a:buSzPts val="1000"/>
              <a:buFont typeface="Symbol" panose="05050102010706020507" pitchFamily="18" charset="2"/>
              <a:buChar char=""/>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chemeClr val="tx1"/>
                </a:solidFill>
                <a:effectLst/>
                <a:ea typeface="Times New Roman" panose="02020603050405020304" pitchFamily="18" charset="0"/>
              </a:rPr>
              <a:t>Streaming data support</a:t>
            </a:r>
            <a:endParaRPr lang="en-US" sz="1800" dirty="0">
              <a:solidFill>
                <a:schemeClr val="tx1"/>
              </a:solidFill>
              <a:effectLst/>
              <a:ea typeface="SimSun" panose="02010600030101010101" pitchFamily="2" charset="-122"/>
            </a:endParaRPr>
          </a:p>
          <a:p>
            <a:endParaRPr lang="en-US" dirty="0"/>
          </a:p>
        </p:txBody>
      </p:sp>
      <p:pic>
        <p:nvPicPr>
          <p:cNvPr id="4" name="Picture 3" descr="A blue and black graphic">
            <a:extLst>
              <a:ext uri="{FF2B5EF4-FFF2-40B4-BE49-F238E27FC236}">
                <a16:creationId xmlns:a16="http://schemas.microsoft.com/office/drawing/2014/main" id="{A1F19644-07AA-A5DE-F95E-3430871A4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38B0748C-1F47-06CF-3C11-D275DF19F13F}"/>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C1E0527B-97D3-AEBC-2665-D6BBF439C0FF}"/>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11</a:t>
            </a:fld>
            <a:endParaRPr lang="en-US" sz="1200" dirty="0">
              <a:solidFill>
                <a:schemeClr val="tx1"/>
              </a:solidFill>
            </a:endParaRPr>
          </a:p>
        </p:txBody>
      </p:sp>
    </p:spTree>
    <p:extLst>
      <p:ext uri="{BB962C8B-B14F-4D97-AF65-F5344CB8AC3E}">
        <p14:creationId xmlns:p14="http://schemas.microsoft.com/office/powerpoint/2010/main" val="3063182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9854B-5BED-72E9-4F01-D770AEB1B024}"/>
              </a:ext>
            </a:extLst>
          </p:cNvPr>
          <p:cNvSpPr>
            <a:spLocks noGrp="1"/>
          </p:cNvSpPr>
          <p:nvPr>
            <p:ph type="title"/>
          </p:nvPr>
        </p:nvSpPr>
        <p:spPr>
          <a:xfrm>
            <a:off x="1596572" y="2656114"/>
            <a:ext cx="7402286" cy="1320800"/>
          </a:xfrm>
        </p:spPr>
        <p:txBody>
          <a:bodyPr>
            <a:normAutofit/>
          </a:bodyPr>
          <a:lstStyle/>
          <a:p>
            <a:pPr algn="ctr"/>
            <a:r>
              <a:rPr lang="en-US" sz="7200" dirty="0"/>
              <a:t>THANK YOU</a:t>
            </a:r>
          </a:p>
        </p:txBody>
      </p:sp>
      <p:pic>
        <p:nvPicPr>
          <p:cNvPr id="4" name="Picture 3" descr="A blue and black graphic">
            <a:extLst>
              <a:ext uri="{FF2B5EF4-FFF2-40B4-BE49-F238E27FC236}">
                <a16:creationId xmlns:a16="http://schemas.microsoft.com/office/drawing/2014/main" id="{FECB2454-F398-47CE-82D1-E417A6CDF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70" y="-11983"/>
            <a:ext cx="2653259" cy="1008829"/>
          </a:xfrm>
          <a:prstGeom prst="rect">
            <a:avLst/>
          </a:prstGeom>
        </p:spPr>
      </p:pic>
      <p:sp>
        <p:nvSpPr>
          <p:cNvPr id="8" name="Footer Placeholder 5">
            <a:extLst>
              <a:ext uri="{FF2B5EF4-FFF2-40B4-BE49-F238E27FC236}">
                <a16:creationId xmlns:a16="http://schemas.microsoft.com/office/drawing/2014/main" id="{B944F49A-C7E2-0F1D-4BEA-1F971E5EBDE4}"/>
              </a:ext>
            </a:extLst>
          </p:cNvPr>
          <p:cNvSpPr>
            <a:spLocks noGrp="1"/>
          </p:cNvSpPr>
          <p:nvPr>
            <p:ph type="ftr" sz="quarter" idx="11"/>
          </p:nvPr>
        </p:nvSpPr>
        <p:spPr>
          <a:xfrm>
            <a:off x="452532" y="6406487"/>
            <a:ext cx="6297612" cy="365125"/>
          </a:xfrm>
        </p:spPr>
        <p:txBody>
          <a:bodyPr/>
          <a:lstStyle/>
          <a:p>
            <a:r>
              <a:rPr lang="en-US" sz="1200" i="1" dirty="0">
                <a:solidFill>
                  <a:schemeClr val="tx1"/>
                </a:solidFill>
              </a:rPr>
              <a:t>Frankfurt University Of Applied Sciences, 2024/25</a:t>
            </a:r>
          </a:p>
        </p:txBody>
      </p:sp>
      <p:sp>
        <p:nvSpPr>
          <p:cNvPr id="9" name="Slide Number Placeholder 6">
            <a:extLst>
              <a:ext uri="{FF2B5EF4-FFF2-40B4-BE49-F238E27FC236}">
                <a16:creationId xmlns:a16="http://schemas.microsoft.com/office/drawing/2014/main" id="{23D044A6-43AE-87D1-B714-9FC28F243E54}"/>
              </a:ext>
            </a:extLst>
          </p:cNvPr>
          <p:cNvSpPr txBox="1">
            <a:spLocks/>
          </p:cNvSpPr>
          <p:nvPr/>
        </p:nvSpPr>
        <p:spPr>
          <a:xfrm>
            <a:off x="11311290" y="6406486"/>
            <a:ext cx="683339"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CCB802-6CFB-40EC-8AE2-CBCB01F71C83}" type="slidenum">
              <a:rPr lang="en-US" sz="1200" smtClean="0">
                <a:solidFill>
                  <a:schemeClr val="tx1"/>
                </a:solidFill>
              </a:rPr>
              <a:pPr/>
              <a:t>12</a:t>
            </a:fld>
            <a:endParaRPr lang="en-US" sz="1200" dirty="0">
              <a:solidFill>
                <a:schemeClr val="tx1"/>
              </a:solidFill>
            </a:endParaRPr>
          </a:p>
        </p:txBody>
      </p:sp>
    </p:spTree>
    <p:extLst>
      <p:ext uri="{BB962C8B-B14F-4D97-AF65-F5344CB8AC3E}">
        <p14:creationId xmlns:p14="http://schemas.microsoft.com/office/powerpoint/2010/main" val="2193404338"/>
      </p:ext>
    </p:extLst>
  </p:cSld>
  <p:clrMapOvr>
    <a:masterClrMapping/>
  </p:clrMapOvr>
</p:sld>
</file>

<file path=ppt/theme/theme1.xml><?xml version="1.0" encoding="utf-8"?>
<a:theme xmlns:a="http://schemas.openxmlformats.org/drawingml/2006/main" name="Face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993</TotalTime>
  <Words>904</Words>
  <Application>Microsoft Office PowerPoint</Application>
  <PresentationFormat>Widescreen</PresentationFormat>
  <Paragraphs>242</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SimSun</vt:lpstr>
      <vt:lpstr>Aptos</vt:lpstr>
      <vt:lpstr>Arial</vt:lpstr>
      <vt:lpstr>Symbol</vt:lpstr>
      <vt:lpstr>Times New Roman</vt:lpstr>
      <vt:lpstr>Trebuchet MS</vt:lpstr>
      <vt:lpstr>Wingdings 3</vt:lpstr>
      <vt:lpstr>Facet</vt:lpstr>
      <vt:lpstr>SOFTWARE ENGINEERING WS 24/25  ML 24/25–03 Implement Anomaly Detection Sample  Presented by : Team Synergy </vt:lpstr>
      <vt:lpstr>Agenda</vt:lpstr>
      <vt:lpstr>OBJECTIVE</vt:lpstr>
      <vt:lpstr>Introduction</vt:lpstr>
      <vt:lpstr>Data Collection and Preprocessing</vt:lpstr>
      <vt:lpstr>Algorithm Design</vt:lpstr>
      <vt:lpstr>Anomaly Detection Logic</vt:lpstr>
      <vt:lpstr>Processing Elements</vt:lpstr>
      <vt:lpstr>Result</vt:lpstr>
      <vt:lpstr>Performance Metrics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Samra</cp:lastModifiedBy>
  <cp:revision>3</cp:revision>
  <dcterms:created xsi:type="dcterms:W3CDTF">2025-01-08T19:03:43Z</dcterms:created>
  <dcterms:modified xsi:type="dcterms:W3CDTF">2025-03-13T15:46:37Z</dcterms:modified>
</cp:coreProperties>
</file>