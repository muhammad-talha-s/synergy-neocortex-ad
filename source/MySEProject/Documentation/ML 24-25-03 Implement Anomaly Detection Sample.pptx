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9" r:id="rId1"/>
  </p:sldMasterIdLst>
  <p:notesMasterIdLst>
    <p:notesMasterId r:id="rId15"/>
  </p:notesMasterIdLst>
  <p:sldIdLst>
    <p:sldId id="256" r:id="rId2"/>
    <p:sldId id="267" r:id="rId3"/>
    <p:sldId id="262" r:id="rId4"/>
    <p:sldId id="264" r:id="rId5"/>
    <p:sldId id="266" r:id="rId6"/>
    <p:sldId id="265" r:id="rId7"/>
    <p:sldId id="270" r:id="rId8"/>
    <p:sldId id="268" r:id="rId9"/>
    <p:sldId id="258" r:id="rId10"/>
    <p:sldId id="257" r:id="rId11"/>
    <p:sldId id="271" r:id="rId12"/>
    <p:sldId id="260" r:id="rId13"/>
    <p:sldId id="26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CD7F03-7CC3-4EC3-B6CD-9D0E4EECF8AB}" type="datetimeFigureOut">
              <a:rPr lang="en-US" smtClean="0"/>
              <a:t>03/14/2025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4110F5-71C8-4B78-9F5E-FAB9C17208D3}" type="slidenum">
              <a:rPr lang="en-US" smtClean="0"/>
              <a:t>‹#›</a:t>
            </a:fld>
            <a:endParaRPr lang="en-US"/>
          </a:p>
        </p:txBody>
      </p:sp>
    </p:spTree>
    <p:extLst>
      <p:ext uri="{BB962C8B-B14F-4D97-AF65-F5344CB8AC3E}">
        <p14:creationId xmlns:p14="http://schemas.microsoft.com/office/powerpoint/2010/main" val="2659997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4110F5-71C8-4B78-9F5E-FAB9C17208D3}" type="slidenum">
              <a:rPr lang="en-US" smtClean="0"/>
              <a:t>1</a:t>
            </a:fld>
            <a:endParaRPr lang="en-US"/>
          </a:p>
        </p:txBody>
      </p:sp>
    </p:spTree>
    <p:extLst>
      <p:ext uri="{BB962C8B-B14F-4D97-AF65-F5344CB8AC3E}">
        <p14:creationId xmlns:p14="http://schemas.microsoft.com/office/powerpoint/2010/main" val="2839473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4110F5-71C8-4B78-9F5E-FAB9C17208D3}" type="slidenum">
              <a:rPr lang="en-US" smtClean="0"/>
              <a:t>10</a:t>
            </a:fld>
            <a:endParaRPr lang="en-US"/>
          </a:p>
        </p:txBody>
      </p:sp>
    </p:spTree>
    <p:extLst>
      <p:ext uri="{BB962C8B-B14F-4D97-AF65-F5344CB8AC3E}">
        <p14:creationId xmlns:p14="http://schemas.microsoft.com/office/powerpoint/2010/main" val="1927908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50181-0EB1-3338-1E6C-884AD58500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2980C6-5857-4484-598D-E74057CBA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D2C8D9-93A1-D12E-14BB-32B8390FEC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7D0DE0-9029-C8B9-FE02-462EB5F6AD30}"/>
              </a:ext>
            </a:extLst>
          </p:cNvPr>
          <p:cNvSpPr>
            <a:spLocks noGrp="1"/>
          </p:cNvSpPr>
          <p:nvPr>
            <p:ph type="sldNum" sz="quarter" idx="5"/>
          </p:nvPr>
        </p:nvSpPr>
        <p:spPr/>
        <p:txBody>
          <a:bodyPr/>
          <a:lstStyle/>
          <a:p>
            <a:fld id="{F24110F5-71C8-4B78-9F5E-FAB9C17208D3}" type="slidenum">
              <a:rPr lang="en-US" smtClean="0"/>
              <a:t>11</a:t>
            </a:fld>
            <a:endParaRPr lang="en-US"/>
          </a:p>
        </p:txBody>
      </p:sp>
    </p:spTree>
    <p:extLst>
      <p:ext uri="{BB962C8B-B14F-4D97-AF65-F5344CB8AC3E}">
        <p14:creationId xmlns:p14="http://schemas.microsoft.com/office/powerpoint/2010/main" val="2643517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3573616-E68B-4622-9569-CA265F63E089}" type="datetime1">
              <a:rPr lang="en-US" smtClean="0"/>
              <a:t>03/14/2025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4184403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6B2FD8-0D29-4191-833F-A559E4ACB31B}" type="datetime1">
              <a:rPr lang="en-US" smtClean="0"/>
              <a:t>03/14/2025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2763689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256CF3-9908-4940-B9E5-8F5A5911BBED}" type="datetime1">
              <a:rPr lang="en-US" smtClean="0"/>
              <a:t>03/14/2025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2561634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EACF0B6-ADE2-4B5A-A195-158B874F3B0F}" type="datetime1">
              <a:rPr lang="en-US" smtClean="0"/>
              <a:t>03/14/2025</a:t>
            </a:fld>
            <a:endParaRPr lang="en-US"/>
          </a:p>
        </p:txBody>
      </p:sp>
      <p:sp>
        <p:nvSpPr>
          <p:cNvPr id="6" name="Footer Placeholder 5"/>
          <p:cNvSpPr>
            <a:spLocks noGrp="1"/>
          </p:cNvSpPr>
          <p:nvPr>
            <p:ph type="ftr" sz="quarter" idx="11"/>
          </p:nvPr>
        </p:nvSpPr>
        <p:spPr/>
        <p:txBody>
          <a:bodyPr/>
          <a:lstStyle/>
          <a:p>
            <a:r>
              <a:rPr lang="en-US"/>
              <a:t>Frankfurt University Of Applied Sciences, 2024/25</a:t>
            </a:r>
          </a:p>
        </p:txBody>
      </p:sp>
      <p:sp>
        <p:nvSpPr>
          <p:cNvPr id="7" name="Slide Number Placeholder 6"/>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3027001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0C1BA7-572C-423B-9212-FACE7A0CD83E}" type="datetime1">
              <a:rPr lang="en-US" smtClean="0"/>
              <a:t>03/14/2025</a:t>
            </a:fld>
            <a:endParaRPr lang="en-US"/>
          </a:p>
        </p:txBody>
      </p:sp>
      <p:sp>
        <p:nvSpPr>
          <p:cNvPr id="8" name="Footer Placeholder 7"/>
          <p:cNvSpPr>
            <a:spLocks noGrp="1"/>
          </p:cNvSpPr>
          <p:nvPr>
            <p:ph type="ftr" sz="quarter" idx="11"/>
          </p:nvPr>
        </p:nvSpPr>
        <p:spPr/>
        <p:txBody>
          <a:bodyPr/>
          <a:lstStyle/>
          <a:p>
            <a:r>
              <a:rPr lang="en-US"/>
              <a:t>Frankfurt University Of Applied Sciences, 2024/25</a:t>
            </a:r>
          </a:p>
        </p:txBody>
      </p:sp>
      <p:sp>
        <p:nvSpPr>
          <p:cNvPr id="9" name="Slide Number Placeholder 8"/>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341406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43AC6A4-B114-4FFB-A0C0-3E89F6812322}" type="datetime1">
              <a:rPr lang="en-US" smtClean="0"/>
              <a:t>03/14/2025</a:t>
            </a:fld>
            <a:endParaRPr lang="en-US"/>
          </a:p>
        </p:txBody>
      </p:sp>
      <p:sp>
        <p:nvSpPr>
          <p:cNvPr id="4" name="Footer Placeholder 3"/>
          <p:cNvSpPr>
            <a:spLocks noGrp="1"/>
          </p:cNvSpPr>
          <p:nvPr>
            <p:ph type="ftr" sz="quarter" idx="11"/>
          </p:nvPr>
        </p:nvSpPr>
        <p:spPr/>
        <p:txBody>
          <a:bodyPr/>
          <a:lstStyle/>
          <a:p>
            <a:r>
              <a:rPr lang="en-US"/>
              <a:t>Frankfurt University Of Applied Sciences, 2024/25</a:t>
            </a:r>
          </a:p>
        </p:txBody>
      </p:sp>
      <p:sp>
        <p:nvSpPr>
          <p:cNvPr id="5" name="Slide Number Placeholder 4"/>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411995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33D5FC-BCE4-48B3-965A-0E6694F907FF}" type="datetime1">
              <a:rPr lang="en-US" smtClean="0"/>
              <a:t>03/14/2025</a:t>
            </a:fld>
            <a:endParaRPr lang="en-US"/>
          </a:p>
        </p:txBody>
      </p:sp>
      <p:sp>
        <p:nvSpPr>
          <p:cNvPr id="3" name="Footer Placeholder 2"/>
          <p:cNvSpPr>
            <a:spLocks noGrp="1"/>
          </p:cNvSpPr>
          <p:nvPr>
            <p:ph type="ftr" sz="quarter" idx="11"/>
          </p:nvPr>
        </p:nvSpPr>
        <p:spPr/>
        <p:txBody>
          <a:bodyPr/>
          <a:lstStyle/>
          <a:p>
            <a:r>
              <a:rPr lang="en-US"/>
              <a:t>Frankfurt University Of Applied Sciences, 2024/25</a:t>
            </a:r>
          </a:p>
        </p:txBody>
      </p:sp>
      <p:sp>
        <p:nvSpPr>
          <p:cNvPr id="4" name="Slide Number Placeholder 3"/>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68888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28F94F7-D517-4D9C-A916-A380ADA76DF1}" type="datetime1">
              <a:rPr lang="en-US" smtClean="0"/>
              <a:t>03/14/2025</a:t>
            </a:fld>
            <a:endParaRPr lang="en-US"/>
          </a:p>
        </p:txBody>
      </p:sp>
      <p:sp>
        <p:nvSpPr>
          <p:cNvPr id="6" name="Footer Placeholder 5"/>
          <p:cNvSpPr>
            <a:spLocks noGrp="1"/>
          </p:cNvSpPr>
          <p:nvPr>
            <p:ph type="ftr" sz="quarter" idx="11"/>
          </p:nvPr>
        </p:nvSpPr>
        <p:spPr/>
        <p:txBody>
          <a:bodyPr/>
          <a:lstStyle/>
          <a:p>
            <a:r>
              <a:rPr lang="en-US"/>
              <a:t>Frankfurt University Of Applied Sciences, 2024/25</a:t>
            </a:r>
          </a:p>
        </p:txBody>
      </p:sp>
      <p:sp>
        <p:nvSpPr>
          <p:cNvPr id="7" name="Slide Number Placeholder 6"/>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1028205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55A502E-869C-4852-AF8A-10392746A8B6}" type="datetime1">
              <a:rPr lang="en-US" smtClean="0"/>
              <a:t>03/14/2025</a:t>
            </a:fld>
            <a:endParaRPr lang="en-US"/>
          </a:p>
        </p:txBody>
      </p:sp>
      <p:sp>
        <p:nvSpPr>
          <p:cNvPr id="6" name="Footer Placeholder 5"/>
          <p:cNvSpPr>
            <a:spLocks noGrp="1"/>
          </p:cNvSpPr>
          <p:nvPr>
            <p:ph type="ftr" sz="quarter" idx="11"/>
          </p:nvPr>
        </p:nvSpPr>
        <p:spPr/>
        <p:txBody>
          <a:bodyPr/>
          <a:lstStyle/>
          <a:p>
            <a:r>
              <a:rPr lang="en-US"/>
              <a:t>Frankfurt University Of Applied Sciences, 2024/25</a:t>
            </a:r>
          </a:p>
        </p:txBody>
      </p:sp>
      <p:sp>
        <p:nvSpPr>
          <p:cNvPr id="7" name="Slide Number Placeholder 6"/>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2956740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E6FAC6-E113-410E-AF90-2EA4A3764F17}" type="datetime1">
              <a:rPr lang="en-US" smtClean="0"/>
              <a:t>03/14/2025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1238783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A0C20D-3992-4DFC-81C5-203FBDAC434A}" type="datetime1">
              <a:rPr lang="en-US" smtClean="0"/>
              <a:t>03/14/2025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7379132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C4684C-6BC6-45E7-984A-E36E6AD17336}" type="datetime1">
              <a:rPr lang="en-US" smtClean="0"/>
              <a:t>03/14/2025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15017957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0C2547-25DC-4C54-9237-DC5DD671D027}" type="datetime1">
              <a:rPr lang="en-US" smtClean="0"/>
              <a:t>03/14/2025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89954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D31C77-E63A-4600-AAE5-034C5EE76180}" type="datetime1">
              <a:rPr lang="en-US" smtClean="0"/>
              <a:t>03/14/2025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31368216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050911-D6F6-4B2D-82A9-78CACB95AADB}" type="datetime1">
              <a:rPr lang="en-US" smtClean="0"/>
              <a:t>03/14/2025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3672728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50F985-9767-4CEE-9DAA-C071EC034462}" type="datetime1">
              <a:rPr lang="en-US" smtClean="0"/>
              <a:t>03/14/2025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3953054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94A4156-E050-4B0E-87A3-8CC18DCF1CCE}" type="datetime1">
              <a:rPr lang="en-US" smtClean="0"/>
              <a:t>03/14/2025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Frankfurt University Of Applied Sciences, 2024/25</a:t>
            </a: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1CCB802-6CFB-40EC-8AE2-CBCB01F71C83}" type="slidenum">
              <a:rPr lang="en-US" smtClean="0"/>
              <a:t>‹#›</a:t>
            </a:fld>
            <a:endParaRPr lang="en-US"/>
          </a:p>
        </p:txBody>
      </p:sp>
    </p:spTree>
    <p:extLst>
      <p:ext uri="{BB962C8B-B14F-4D97-AF65-F5344CB8AC3E}">
        <p14:creationId xmlns:p14="http://schemas.microsoft.com/office/powerpoint/2010/main" val="3828518791"/>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hf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alha.saleem@stud.fra-uas.de" TargetMode="External"/><Relationship Id="rId7"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https://github.com/Muhammad-Talha-S/synergy-neocortex-ad" TargetMode="External"/><Relationship Id="rId5" Type="http://schemas.openxmlformats.org/officeDocument/2006/relationships/hyperlink" Target="mailto:waqas.ahmed@stud.fra-uas.de" TargetMode="External"/><Relationship Id="rId4" Type="http://schemas.openxmlformats.org/officeDocument/2006/relationships/hyperlink" Target="mailto:samra.arif@stud.fra-uas.de"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web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FD528-106D-1A55-3815-89D9A78B2B11}"/>
              </a:ext>
            </a:extLst>
          </p:cNvPr>
          <p:cNvSpPr>
            <a:spLocks noGrp="1"/>
          </p:cNvSpPr>
          <p:nvPr>
            <p:ph type="ctrTitle"/>
          </p:nvPr>
        </p:nvSpPr>
        <p:spPr>
          <a:xfrm>
            <a:off x="244444" y="1595830"/>
            <a:ext cx="9667790" cy="2134198"/>
          </a:xfrm>
        </p:spPr>
        <p:txBody>
          <a:bodyPr/>
          <a:lstStyle/>
          <a:p>
            <a:pPr algn="ctr">
              <a:spcAft>
                <a:spcPts val="600"/>
              </a:spcAft>
            </a:pPr>
            <a:r>
              <a:rPr lang="en-US" sz="3600" b="1" dirty="0">
                <a:solidFill>
                  <a:schemeClr val="tx1"/>
                </a:solidFill>
                <a:cs typeface="Times New Roman" panose="02020603050405020304" pitchFamily="18" charset="0"/>
              </a:rPr>
              <a:t>SOFTWARE ENGINEERING</a:t>
            </a:r>
            <a:br>
              <a:rPr lang="en-US" sz="3600" b="1" dirty="0">
                <a:solidFill>
                  <a:schemeClr val="tx1"/>
                </a:solidFill>
                <a:cs typeface="Times New Roman" panose="02020603050405020304" pitchFamily="18" charset="0"/>
              </a:rPr>
            </a:br>
            <a:r>
              <a:rPr lang="en-US" sz="3600" b="1" dirty="0">
                <a:solidFill>
                  <a:schemeClr val="tx1"/>
                </a:solidFill>
                <a:cs typeface="Times New Roman" panose="02020603050405020304" pitchFamily="18" charset="0"/>
              </a:rPr>
              <a:t>WS 24/25</a:t>
            </a:r>
            <a:br>
              <a:rPr lang="en-US" sz="3200" b="1" i="1" dirty="0">
                <a:solidFill>
                  <a:schemeClr val="tx1"/>
                </a:solidFill>
                <a:cs typeface="Times New Roman" panose="02020603050405020304" pitchFamily="18" charset="0"/>
              </a:rPr>
            </a:br>
            <a:br>
              <a:rPr lang="en-US" sz="3200" b="1" i="1" dirty="0">
                <a:solidFill>
                  <a:schemeClr val="tx1"/>
                </a:solidFill>
                <a:cs typeface="Times New Roman" panose="02020603050405020304" pitchFamily="18" charset="0"/>
              </a:rPr>
            </a:br>
            <a:r>
              <a:rPr lang="en-US" sz="2800" b="1" i="1" dirty="0">
                <a:solidFill>
                  <a:schemeClr val="tx1"/>
                </a:solidFill>
                <a:cs typeface="Times New Roman" panose="02020603050405020304" pitchFamily="18" charset="0"/>
              </a:rPr>
              <a:t>ML 24/25–03 </a:t>
            </a:r>
            <a:r>
              <a:rPr lang="en-US" sz="2800" b="1" i="1" dirty="0">
                <a:solidFill>
                  <a:schemeClr val="tx1"/>
                </a:solidFill>
                <a:effectLst/>
                <a:ea typeface="MS Mincho" panose="02020609040205080304" pitchFamily="49" charset="-128"/>
                <a:cs typeface="Times New Roman" panose="02020603050405020304" pitchFamily="18" charset="0"/>
              </a:rPr>
              <a:t>Implement Anomaly Detection Sample</a:t>
            </a:r>
            <a:br>
              <a:rPr lang="en-US" sz="3200" b="1" i="1" dirty="0">
                <a:solidFill>
                  <a:schemeClr val="tx1"/>
                </a:solidFill>
                <a:ea typeface="MS Mincho" panose="02020609040205080304" pitchFamily="49" charset="-128"/>
                <a:cs typeface="Times New Roman" panose="02020603050405020304" pitchFamily="18" charset="0"/>
              </a:rPr>
            </a:br>
            <a:br>
              <a:rPr lang="en-US" sz="3200" b="1" i="1" dirty="0">
                <a:solidFill>
                  <a:schemeClr val="tx1"/>
                </a:solidFill>
                <a:ea typeface="MS Mincho" panose="02020609040205080304" pitchFamily="49" charset="-128"/>
                <a:cs typeface="Times New Roman" panose="02020603050405020304" pitchFamily="18" charset="0"/>
              </a:rPr>
            </a:br>
            <a:r>
              <a:rPr lang="en-US" sz="2800" b="1" dirty="0">
                <a:solidFill>
                  <a:schemeClr val="tx1"/>
                </a:solidFill>
                <a:effectLst/>
                <a:ea typeface="MS Mincho" panose="02020609040205080304" pitchFamily="49" charset="-128"/>
                <a:cs typeface="Times New Roman" panose="02020603050405020304" pitchFamily="18" charset="0"/>
              </a:rPr>
              <a:t>Presented by : </a:t>
            </a:r>
            <a:r>
              <a:rPr lang="en-US" sz="2800" b="1" dirty="0">
                <a:cs typeface="Times New Roman" panose="02020603050405020304" pitchFamily="18" charset="0"/>
              </a:rPr>
              <a:t>Team Synergy</a:t>
            </a:r>
            <a:br>
              <a:rPr lang="en-US" sz="3200" b="1" i="1" dirty="0">
                <a:latin typeface="Times New Roman" panose="02020603050405020304" pitchFamily="18" charset="0"/>
                <a:cs typeface="Times New Roman" panose="02020603050405020304" pitchFamily="18" charset="0"/>
              </a:rPr>
            </a:br>
            <a:endParaRPr lang="en-US" sz="3200" b="1"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02BBDF5C-F952-2D85-89BE-A3F09A2CB262}"/>
              </a:ext>
            </a:extLst>
          </p:cNvPr>
          <p:cNvGraphicFramePr>
            <a:graphicFrameLocks noGrp="1"/>
          </p:cNvGraphicFramePr>
          <p:nvPr>
            <p:extLst>
              <p:ext uri="{D42A27DB-BD31-4B8C-83A1-F6EECF244321}">
                <p14:modId xmlns:p14="http://schemas.microsoft.com/office/powerpoint/2010/main" val="1064721463"/>
              </p:ext>
            </p:extLst>
          </p:nvPr>
        </p:nvGraphicFramePr>
        <p:xfrm>
          <a:off x="1186004" y="3667199"/>
          <a:ext cx="9008197" cy="1005840"/>
        </p:xfrm>
        <a:graphic>
          <a:graphicData uri="http://schemas.openxmlformats.org/drawingml/2006/table">
            <a:tbl>
              <a:tblPr firstRow="1" bandRow="1">
                <a:tableStyleId>{2D5ABB26-0587-4C30-8999-92F81FD0307C}</a:tableStyleId>
              </a:tblPr>
              <a:tblGrid>
                <a:gridCol w="3121344">
                  <a:extLst>
                    <a:ext uri="{9D8B030D-6E8A-4147-A177-3AD203B41FA5}">
                      <a16:colId xmlns:a16="http://schemas.microsoft.com/office/drawing/2014/main" val="3103803513"/>
                    </a:ext>
                  </a:extLst>
                </a:gridCol>
                <a:gridCol w="2771753">
                  <a:extLst>
                    <a:ext uri="{9D8B030D-6E8A-4147-A177-3AD203B41FA5}">
                      <a16:colId xmlns:a16="http://schemas.microsoft.com/office/drawing/2014/main" val="38094295"/>
                    </a:ext>
                  </a:extLst>
                </a:gridCol>
                <a:gridCol w="3115100">
                  <a:extLst>
                    <a:ext uri="{9D8B030D-6E8A-4147-A177-3AD203B41FA5}">
                      <a16:colId xmlns:a16="http://schemas.microsoft.com/office/drawing/2014/main" val="126808032"/>
                    </a:ext>
                  </a:extLst>
                </a:gridCol>
              </a:tblGrid>
              <a:tr h="76954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1" dirty="0">
                          <a:effectLst/>
                          <a:latin typeface="+mj-lt"/>
                        </a:rPr>
                        <a:t>Muhammad Talha Saleem</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400" b="1" dirty="0">
                          <a:effectLst/>
                          <a:latin typeface="+mj-lt"/>
                        </a:rPr>
                        <a:t>1502910 </a:t>
                      </a:r>
                      <a:br>
                        <a:rPr lang="en-US" sz="1800" dirty="0">
                          <a:effectLst/>
                          <a:latin typeface="+mj-lt"/>
                        </a:rPr>
                      </a:br>
                      <a:r>
                        <a:rPr lang="en-US" sz="1400" u="sng" dirty="0">
                          <a:latin typeface="+mj-lt"/>
                          <a:hlinkClick r:id="rId3"/>
                        </a:rPr>
                        <a:t>talha.saleem@stud.fra-uas.de</a:t>
                      </a:r>
                      <a:endParaRPr lang="en-US" sz="1400" u="sng" dirty="0">
                        <a:latin typeface="+mj-lt"/>
                      </a:endParaRPr>
                    </a:p>
                    <a:p>
                      <a:endParaRPr lang="en-US" dirty="0">
                        <a:latin typeface="+mj-lt"/>
                      </a:endParaRPr>
                    </a:p>
                  </a:txBody>
                  <a:tcPr/>
                </a:tc>
                <a:tc>
                  <a:txBody>
                    <a:bodyPr/>
                    <a:lstStyle/>
                    <a:p>
                      <a:r>
                        <a:rPr lang="en-US" sz="1400" b="1" dirty="0">
                          <a:effectLst/>
                          <a:latin typeface="+mj-lt"/>
                        </a:rPr>
                        <a:t>Samra Arif</a:t>
                      </a:r>
                    </a:p>
                    <a:p>
                      <a:r>
                        <a:rPr lang="en-US" sz="1400" b="1" dirty="0">
                          <a:effectLst/>
                          <a:latin typeface="+mj-lt"/>
                        </a:rPr>
                        <a:t>1565456</a:t>
                      </a:r>
                      <a:br>
                        <a:rPr lang="en-US" sz="1400" dirty="0">
                          <a:effectLst/>
                          <a:latin typeface="+mj-lt"/>
                        </a:rPr>
                      </a:br>
                      <a:r>
                        <a:rPr lang="en-US" sz="1400" u="sng" kern="1200" dirty="0">
                          <a:solidFill>
                            <a:schemeClr val="accent1"/>
                          </a:solidFill>
                          <a:latin typeface="+mj-lt"/>
                          <a:ea typeface="+mn-ea"/>
                          <a:cs typeface="+mn-cs"/>
                          <a:hlinkClick r:id="rId4">
                            <a:extLst>
                              <a:ext uri="{A12FA001-AC4F-418D-AE19-62706E023703}">
                                <ahyp:hlinkClr xmlns:ahyp="http://schemas.microsoft.com/office/drawing/2018/hyperlinkcolor" val="tx"/>
                              </a:ext>
                            </a:extLst>
                          </a:hlinkClick>
                        </a:rPr>
                        <a:t>samra.arif@stud.fra-uas.de</a:t>
                      </a:r>
                      <a:br>
                        <a:rPr lang="en-US" sz="1800" dirty="0">
                          <a:effectLst/>
                          <a:latin typeface="+mj-lt"/>
                        </a:rPr>
                      </a:br>
                      <a:endParaRPr lang="en-US" dirty="0">
                        <a:latin typeface="+mj-lt"/>
                      </a:endParaRPr>
                    </a:p>
                  </a:txBody>
                  <a:tcPr/>
                </a:tc>
                <a:tc>
                  <a:txBody>
                    <a:bodyPr/>
                    <a:lstStyle/>
                    <a:p>
                      <a:r>
                        <a:rPr lang="en-US" sz="1400" b="1" dirty="0">
                          <a:effectLst/>
                          <a:latin typeface="+mj-lt"/>
                        </a:rPr>
                        <a:t>Waqas Ahmed</a:t>
                      </a:r>
                    </a:p>
                    <a:p>
                      <a:r>
                        <a:rPr lang="en-US" sz="1400" b="1" dirty="0">
                          <a:effectLst/>
                          <a:latin typeface="+mj-lt"/>
                        </a:rPr>
                        <a:t>1569061</a:t>
                      </a:r>
                      <a:br>
                        <a:rPr lang="en-US" sz="1400" dirty="0">
                          <a:effectLst/>
                          <a:latin typeface="+mj-lt"/>
                        </a:rPr>
                      </a:br>
                      <a:r>
                        <a:rPr lang="en-US" sz="1400" u="sng" dirty="0">
                          <a:effectLst/>
                          <a:latin typeface="+mj-lt"/>
                          <a:hlinkClick r:id="rId5"/>
                        </a:rPr>
                        <a:t>waqas.ahmed@stud.fra-uas.de</a:t>
                      </a:r>
                      <a:endParaRPr lang="en-US" sz="1400" u="sng" dirty="0">
                        <a:latin typeface="+mj-lt"/>
                      </a:endParaRPr>
                    </a:p>
                  </a:txBody>
                  <a:tcPr/>
                </a:tc>
                <a:extLst>
                  <a:ext uri="{0D108BD9-81ED-4DB2-BD59-A6C34878D82A}">
                    <a16:rowId xmlns:a16="http://schemas.microsoft.com/office/drawing/2014/main" val="1485554560"/>
                  </a:ext>
                </a:extLst>
              </a:tr>
            </a:tbl>
          </a:graphicData>
        </a:graphic>
      </p:graphicFrame>
      <p:sp>
        <p:nvSpPr>
          <p:cNvPr id="3" name="Title 1">
            <a:extLst>
              <a:ext uri="{FF2B5EF4-FFF2-40B4-BE49-F238E27FC236}">
                <a16:creationId xmlns:a16="http://schemas.microsoft.com/office/drawing/2014/main" id="{4870B582-E7B6-FB82-7A16-A093B40CA3F7}"/>
              </a:ext>
            </a:extLst>
          </p:cNvPr>
          <p:cNvSpPr txBox="1">
            <a:spLocks/>
          </p:cNvSpPr>
          <p:nvPr/>
        </p:nvSpPr>
        <p:spPr>
          <a:xfrm>
            <a:off x="808974" y="5557083"/>
            <a:ext cx="8538729" cy="645378"/>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2800" b="1" dirty="0">
                <a:solidFill>
                  <a:schemeClr val="tx1"/>
                </a:solidFill>
                <a:effectLst/>
                <a:ea typeface="MS Mincho" panose="02020609040205080304" pitchFamily="49" charset="-128"/>
                <a:cs typeface="Times New Roman" panose="02020603050405020304" pitchFamily="18" charset="0"/>
              </a:rPr>
              <a:t>Presented to : </a:t>
            </a:r>
            <a:r>
              <a:rPr lang="en-US" sz="2800" b="1" dirty="0">
                <a:solidFill>
                  <a:schemeClr val="tx1"/>
                </a:solidFill>
                <a:ea typeface="MS Mincho" panose="02020609040205080304" pitchFamily="49" charset="-128"/>
                <a:cs typeface="Times New Roman" panose="02020603050405020304" pitchFamily="18" charset="0"/>
              </a:rPr>
              <a:t>Damir Dobric &amp; Andreas Pech</a:t>
            </a:r>
          </a:p>
        </p:txBody>
      </p:sp>
      <p:sp>
        <p:nvSpPr>
          <p:cNvPr id="4" name="Title 1">
            <a:extLst>
              <a:ext uri="{FF2B5EF4-FFF2-40B4-BE49-F238E27FC236}">
                <a16:creationId xmlns:a16="http://schemas.microsoft.com/office/drawing/2014/main" id="{DC95C412-A6B6-7A92-0F56-35388BB13CC2}"/>
              </a:ext>
            </a:extLst>
          </p:cNvPr>
          <p:cNvSpPr txBox="1">
            <a:spLocks/>
          </p:cNvSpPr>
          <p:nvPr/>
        </p:nvSpPr>
        <p:spPr>
          <a:xfrm>
            <a:off x="1186004" y="4481465"/>
            <a:ext cx="8538729" cy="484813"/>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1600" b="1" dirty="0">
                <a:solidFill>
                  <a:schemeClr val="tx1"/>
                </a:solidFill>
                <a:effectLst/>
                <a:ea typeface="MS Mincho" panose="02020609040205080304" pitchFamily="49" charset="-128"/>
                <a:cs typeface="Times New Roman" panose="02020603050405020304" pitchFamily="18" charset="0"/>
              </a:rPr>
              <a:t>Project Implementation</a:t>
            </a:r>
            <a:r>
              <a:rPr lang="en-US" sz="1600" dirty="0">
                <a:solidFill>
                  <a:schemeClr val="tx1"/>
                </a:solidFill>
                <a:effectLst/>
                <a:ea typeface="MS Mincho" panose="02020609040205080304" pitchFamily="49" charset="-128"/>
                <a:cs typeface="Times New Roman" panose="02020603050405020304" pitchFamily="18" charset="0"/>
              </a:rPr>
              <a:t>: </a:t>
            </a:r>
            <a:r>
              <a:rPr lang="en-US" sz="1600" dirty="0">
                <a:solidFill>
                  <a:schemeClr val="tx1"/>
                </a:solidFill>
                <a:effectLst/>
                <a:ea typeface="MS Mincho" panose="02020609040205080304" pitchFamily="49" charset="-128"/>
                <a:cs typeface="Times New Roman" panose="02020603050405020304" pitchFamily="18" charset="0"/>
                <a:hlinkClick r:id="rId6"/>
              </a:rPr>
              <a:t>https://github.com/Muhammad-Talha-S/synergy-neocortex-ad</a:t>
            </a:r>
            <a:endParaRPr lang="en-US" sz="1600" dirty="0">
              <a:solidFill>
                <a:schemeClr val="tx1"/>
              </a:solidFill>
              <a:ea typeface="MS Mincho" panose="02020609040205080304" pitchFamily="49" charset="-128"/>
              <a:cs typeface="Times New Roman" panose="02020603050405020304" pitchFamily="18" charset="0"/>
            </a:endParaRPr>
          </a:p>
        </p:txBody>
      </p:sp>
      <p:pic>
        <p:nvPicPr>
          <p:cNvPr id="5" name="Picture 4" descr="A blue and black graphic">
            <a:extLst>
              <a:ext uri="{FF2B5EF4-FFF2-40B4-BE49-F238E27FC236}">
                <a16:creationId xmlns:a16="http://schemas.microsoft.com/office/drawing/2014/main" id="{0D023CEE-920E-42DB-0D07-671532FA09A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Tree>
    <p:extLst>
      <p:ext uri="{BB962C8B-B14F-4D97-AF65-F5344CB8AC3E}">
        <p14:creationId xmlns:p14="http://schemas.microsoft.com/office/powerpoint/2010/main" val="3165163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39BE1-E43A-B275-7426-9659143FDBB3}"/>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C4D04E66-E991-8F11-B3D5-05A751308547}"/>
              </a:ext>
            </a:extLst>
          </p:cNvPr>
          <p:cNvSpPr>
            <a:spLocks noGrp="1"/>
          </p:cNvSpPr>
          <p:nvPr>
            <p:ph idx="1"/>
          </p:nvPr>
        </p:nvSpPr>
        <p:spPr>
          <a:xfrm>
            <a:off x="677334" y="1812246"/>
            <a:ext cx="8596668" cy="3880773"/>
          </a:xfrm>
        </p:spPr>
        <p:txBody>
          <a:bodyPr/>
          <a:lstStyle/>
          <a:p>
            <a:r>
              <a:rPr lang="en-US" dirty="0">
                <a:solidFill>
                  <a:schemeClr val="tx1"/>
                </a:solidFill>
              </a:rPr>
              <a:t>Objective</a:t>
            </a:r>
          </a:p>
          <a:p>
            <a:r>
              <a:rPr lang="en-US" dirty="0">
                <a:solidFill>
                  <a:schemeClr val="tx1"/>
                </a:solidFill>
              </a:rPr>
              <a:t>Introduction</a:t>
            </a:r>
          </a:p>
          <a:p>
            <a:r>
              <a:rPr lang="en-US" dirty="0">
                <a:solidFill>
                  <a:schemeClr val="tx1"/>
                </a:solidFill>
              </a:rPr>
              <a:t>Data Collection and Preprocessing</a:t>
            </a:r>
          </a:p>
          <a:p>
            <a:r>
              <a:rPr lang="en-US" dirty="0">
                <a:solidFill>
                  <a:schemeClr val="tx1"/>
                </a:solidFill>
              </a:rPr>
              <a:t>Algorithm Design</a:t>
            </a:r>
          </a:p>
          <a:p>
            <a:r>
              <a:rPr lang="en-US" dirty="0">
                <a:solidFill>
                  <a:schemeClr val="tx1"/>
                </a:solidFill>
              </a:rPr>
              <a:t>Anomaly Detection Logic</a:t>
            </a:r>
          </a:p>
          <a:p>
            <a:r>
              <a:rPr lang="en-US" dirty="0">
                <a:solidFill>
                  <a:schemeClr val="tx1"/>
                </a:solidFill>
              </a:rPr>
              <a:t>Processing Elements</a:t>
            </a:r>
          </a:p>
          <a:p>
            <a:r>
              <a:rPr lang="en-US" dirty="0">
                <a:solidFill>
                  <a:schemeClr val="tx1"/>
                </a:solidFill>
              </a:rPr>
              <a:t>Project Analysis and Code Review</a:t>
            </a:r>
          </a:p>
          <a:p>
            <a:r>
              <a:rPr lang="en-US" dirty="0">
                <a:solidFill>
                  <a:schemeClr val="tx1"/>
                </a:solidFill>
              </a:rPr>
              <a:t>Line Charts for Sample Anomaly Detection</a:t>
            </a:r>
          </a:p>
          <a:p>
            <a:r>
              <a:rPr lang="en-US" dirty="0">
                <a:solidFill>
                  <a:schemeClr val="tx1"/>
                </a:solidFill>
              </a:rPr>
              <a:t>Conclusion</a:t>
            </a:r>
          </a:p>
        </p:txBody>
      </p:sp>
      <p:pic>
        <p:nvPicPr>
          <p:cNvPr id="4" name="Picture 3" descr="A blue and black graphic">
            <a:extLst>
              <a:ext uri="{FF2B5EF4-FFF2-40B4-BE49-F238E27FC236}">
                <a16:creationId xmlns:a16="http://schemas.microsoft.com/office/drawing/2014/main" id="{EFF10FE4-73F3-7673-A78E-63828E8234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6" name="Footer Placeholder 5">
            <a:extLst>
              <a:ext uri="{FF2B5EF4-FFF2-40B4-BE49-F238E27FC236}">
                <a16:creationId xmlns:a16="http://schemas.microsoft.com/office/drawing/2014/main" id="{4D4C866B-C512-99E0-482C-1D4398CD3985}"/>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7" name="Slide Number Placeholder 6">
            <a:extLst>
              <a:ext uri="{FF2B5EF4-FFF2-40B4-BE49-F238E27FC236}">
                <a16:creationId xmlns:a16="http://schemas.microsoft.com/office/drawing/2014/main" id="{E287C60D-3DE0-2FD4-E459-030BC67CE419}"/>
              </a:ext>
            </a:extLst>
          </p:cNvPr>
          <p:cNvSpPr>
            <a:spLocks noGrp="1"/>
          </p:cNvSpPr>
          <p:nvPr>
            <p:ph type="sldNum" sz="quarter" idx="12"/>
          </p:nvPr>
        </p:nvSpPr>
        <p:spPr>
          <a:xfrm>
            <a:off x="11311290" y="6406486"/>
            <a:ext cx="683339" cy="365125"/>
          </a:xfrm>
        </p:spPr>
        <p:txBody>
          <a:bodyPr/>
          <a:lstStyle/>
          <a:p>
            <a:fld id="{C1CCB802-6CFB-40EC-8AE2-CBCB01F71C83}" type="slidenum">
              <a:rPr lang="en-US" sz="1200" smtClean="0">
                <a:solidFill>
                  <a:schemeClr val="tx1"/>
                </a:solidFill>
              </a:rPr>
              <a:t>2</a:t>
            </a:fld>
            <a:endParaRPr lang="en-US" sz="1200" dirty="0">
              <a:solidFill>
                <a:schemeClr val="tx1"/>
              </a:solidFill>
            </a:endParaRPr>
          </a:p>
        </p:txBody>
      </p:sp>
    </p:spTree>
    <p:extLst>
      <p:ext uri="{BB962C8B-B14F-4D97-AF65-F5344CB8AC3E}">
        <p14:creationId xmlns:p14="http://schemas.microsoft.com/office/powerpoint/2010/main" val="2473443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9126-07A8-8312-E408-0A2FA224C7D3}"/>
              </a:ext>
            </a:extLst>
          </p:cNvPr>
          <p:cNvSpPr>
            <a:spLocks noGrp="1"/>
          </p:cNvSpPr>
          <p:nvPr>
            <p:ph type="title"/>
          </p:nvPr>
        </p:nvSpPr>
        <p:spPr>
          <a:xfrm>
            <a:off x="577746" y="3281569"/>
            <a:ext cx="8596668" cy="885371"/>
          </a:xfrm>
        </p:spPr>
        <p:txBody>
          <a:bodyPr>
            <a:normAutofit/>
          </a:bodyPr>
          <a:lstStyle/>
          <a:p>
            <a:r>
              <a:rPr lang="en-US" dirty="0"/>
              <a:t>Objective</a:t>
            </a:r>
          </a:p>
        </p:txBody>
      </p:sp>
      <p:sp>
        <p:nvSpPr>
          <p:cNvPr id="3" name="Content Placeholder 2">
            <a:extLst>
              <a:ext uri="{FF2B5EF4-FFF2-40B4-BE49-F238E27FC236}">
                <a16:creationId xmlns:a16="http://schemas.microsoft.com/office/drawing/2014/main" id="{DC446A9C-0313-BBBE-8B6A-95711ADB26F1}"/>
              </a:ext>
            </a:extLst>
          </p:cNvPr>
          <p:cNvSpPr>
            <a:spLocks noGrp="1"/>
          </p:cNvSpPr>
          <p:nvPr>
            <p:ph idx="1"/>
          </p:nvPr>
        </p:nvSpPr>
        <p:spPr>
          <a:xfrm>
            <a:off x="577746" y="4334301"/>
            <a:ext cx="9141223" cy="1950642"/>
          </a:xfrm>
        </p:spPr>
        <p:txBody>
          <a:bodyPr/>
          <a:lstStyle/>
          <a:p>
            <a:pPr marL="0" indent="0" algn="just">
              <a:buNone/>
            </a:pPr>
            <a:r>
              <a:rPr lang="en-US" dirty="0">
                <a:solidFill>
                  <a:schemeClr val="tx1"/>
                </a:solidFill>
                <a:cs typeface="Times New Roman" panose="02020603050405020304" pitchFamily="18" charset="0"/>
              </a:rPr>
              <a:t>The objective of this experiment is to design and implement an Anomaly Detection system using the </a:t>
            </a:r>
            <a:r>
              <a:rPr lang="en-US" b="1" dirty="0">
                <a:solidFill>
                  <a:schemeClr val="tx1"/>
                </a:solidFill>
                <a:cs typeface="Times New Roman" panose="02020603050405020304" pitchFamily="18" charset="0"/>
              </a:rPr>
              <a:t>NEO-CORTEX API </a:t>
            </a:r>
            <a:r>
              <a:rPr lang="en-US" dirty="0">
                <a:solidFill>
                  <a:schemeClr val="tx1"/>
                </a:solidFill>
                <a:cs typeface="Times New Roman" panose="02020603050405020304" pitchFamily="18" charset="0"/>
              </a:rPr>
              <a:t>framework. The system will learn multiple sequences representing patterns of normal behavior and later predict the next values in new sequences. If the predicted values deviate beyond a defined tolerance from the actual observed values, the system will detect an anomaly</a:t>
            </a:r>
            <a:r>
              <a:rPr lang="en-US" dirty="0">
                <a:cs typeface="Times New Roman" panose="02020603050405020304" pitchFamily="18" charset="0"/>
              </a:rPr>
              <a:t>.</a:t>
            </a:r>
          </a:p>
        </p:txBody>
      </p:sp>
      <p:pic>
        <p:nvPicPr>
          <p:cNvPr id="4" name="Picture 3" descr="A blue and black graphic">
            <a:extLst>
              <a:ext uri="{FF2B5EF4-FFF2-40B4-BE49-F238E27FC236}">
                <a16:creationId xmlns:a16="http://schemas.microsoft.com/office/drawing/2014/main" id="{A8641B44-9F7E-6CC5-49D5-D1C035D3EF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8" name="Footer Placeholder 5">
            <a:extLst>
              <a:ext uri="{FF2B5EF4-FFF2-40B4-BE49-F238E27FC236}">
                <a16:creationId xmlns:a16="http://schemas.microsoft.com/office/drawing/2014/main" id="{18EA73AD-98E6-E308-BF28-878FC7719E4E}"/>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9" name="Slide Number Placeholder 6">
            <a:extLst>
              <a:ext uri="{FF2B5EF4-FFF2-40B4-BE49-F238E27FC236}">
                <a16:creationId xmlns:a16="http://schemas.microsoft.com/office/drawing/2014/main" id="{C4129AE1-9EA9-4162-8ECE-EF80C84C7824}"/>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3</a:t>
            </a:fld>
            <a:endParaRPr lang="en-US" sz="1200" dirty="0">
              <a:solidFill>
                <a:schemeClr val="tx1"/>
              </a:solidFill>
            </a:endParaRPr>
          </a:p>
        </p:txBody>
      </p:sp>
      <p:sp>
        <p:nvSpPr>
          <p:cNvPr id="5" name="Title 1">
            <a:extLst>
              <a:ext uri="{FF2B5EF4-FFF2-40B4-BE49-F238E27FC236}">
                <a16:creationId xmlns:a16="http://schemas.microsoft.com/office/drawing/2014/main" id="{47893A4B-F0F3-7B94-08EE-EC4F747904A7}"/>
              </a:ext>
            </a:extLst>
          </p:cNvPr>
          <p:cNvSpPr txBox="1">
            <a:spLocks/>
          </p:cNvSpPr>
          <p:nvPr/>
        </p:nvSpPr>
        <p:spPr>
          <a:xfrm>
            <a:off x="577746" y="156652"/>
            <a:ext cx="8596668" cy="88537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Introduction</a:t>
            </a:r>
          </a:p>
        </p:txBody>
      </p:sp>
      <p:sp>
        <p:nvSpPr>
          <p:cNvPr id="6" name="Content Placeholder 2">
            <a:extLst>
              <a:ext uri="{FF2B5EF4-FFF2-40B4-BE49-F238E27FC236}">
                <a16:creationId xmlns:a16="http://schemas.microsoft.com/office/drawing/2014/main" id="{5BF8216D-0234-3065-6F8E-F7C8517F698F}"/>
              </a:ext>
            </a:extLst>
          </p:cNvPr>
          <p:cNvSpPr txBox="1">
            <a:spLocks/>
          </p:cNvSpPr>
          <p:nvPr/>
        </p:nvSpPr>
        <p:spPr>
          <a:xfrm>
            <a:off x="577746" y="996846"/>
            <a:ext cx="8596668" cy="211736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r>
              <a:rPr lang="en-US" dirty="0">
                <a:solidFill>
                  <a:schemeClr val="tx1"/>
                </a:solidFill>
                <a:cs typeface="Times New Roman" panose="02020603050405020304" pitchFamily="18" charset="0"/>
              </a:rPr>
              <a:t>Anomaly detection is the process of identifying data points that do not conform to expected patterns.</a:t>
            </a:r>
          </a:p>
          <a:p>
            <a:pPr algn="just">
              <a:buFont typeface="Wingdings" panose="05000000000000000000" pitchFamily="2" charset="2"/>
              <a:buChar char="Ø"/>
            </a:pPr>
            <a:r>
              <a:rPr lang="en-US" dirty="0">
                <a:solidFill>
                  <a:schemeClr val="tx1"/>
                </a:solidFill>
                <a:cs typeface="Times New Roman" panose="02020603050405020304" pitchFamily="18" charset="0"/>
              </a:rPr>
              <a:t>Using Neocortex API, we train models on normal sequences and detect deviations.</a:t>
            </a:r>
          </a:p>
          <a:p>
            <a:pPr algn="just">
              <a:buFont typeface="Wingdings" panose="05000000000000000000" pitchFamily="2" charset="2"/>
              <a:buChar char="Ø"/>
            </a:pPr>
            <a:r>
              <a:rPr lang="en-US" dirty="0">
                <a:solidFill>
                  <a:schemeClr val="tx1"/>
                </a:solidFill>
                <a:cs typeface="Times New Roman" panose="02020603050405020304" pitchFamily="18" charset="0"/>
              </a:rPr>
              <a:t>Application areas: Power consumption prediction, fraud detection, sensor data monitoring, etc.</a:t>
            </a:r>
          </a:p>
          <a:p>
            <a:endParaRPr lang="en-US" dirty="0"/>
          </a:p>
        </p:txBody>
      </p:sp>
    </p:spTree>
    <p:extLst>
      <p:ext uri="{BB962C8B-B14F-4D97-AF65-F5344CB8AC3E}">
        <p14:creationId xmlns:p14="http://schemas.microsoft.com/office/powerpoint/2010/main" val="4225064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8CA43-DEAD-7C66-58DE-6A1E0493E0B5}"/>
              </a:ext>
            </a:extLst>
          </p:cNvPr>
          <p:cNvSpPr>
            <a:spLocks noGrp="1"/>
          </p:cNvSpPr>
          <p:nvPr>
            <p:ph type="title"/>
          </p:nvPr>
        </p:nvSpPr>
        <p:spPr>
          <a:xfrm>
            <a:off x="270933" y="309663"/>
            <a:ext cx="8596668" cy="840127"/>
          </a:xfrm>
        </p:spPr>
        <p:txBody>
          <a:bodyPr/>
          <a:lstStyle/>
          <a:p>
            <a:r>
              <a:rPr lang="en-US" dirty="0"/>
              <a:t>Data Collection and Preprocessing</a:t>
            </a:r>
          </a:p>
        </p:txBody>
      </p:sp>
      <p:sp>
        <p:nvSpPr>
          <p:cNvPr id="3" name="Content Placeholder 2">
            <a:extLst>
              <a:ext uri="{FF2B5EF4-FFF2-40B4-BE49-F238E27FC236}">
                <a16:creationId xmlns:a16="http://schemas.microsoft.com/office/drawing/2014/main" id="{1D812079-E15F-0C0A-24A3-CCE21750BB95}"/>
              </a:ext>
            </a:extLst>
          </p:cNvPr>
          <p:cNvSpPr>
            <a:spLocks noGrp="1"/>
          </p:cNvSpPr>
          <p:nvPr>
            <p:ph idx="1"/>
          </p:nvPr>
        </p:nvSpPr>
        <p:spPr>
          <a:xfrm>
            <a:off x="270933" y="1488613"/>
            <a:ext cx="10759923" cy="3880773"/>
          </a:xfrm>
        </p:spPr>
        <p:txBody>
          <a:bodyPr>
            <a:normAutofit/>
          </a:bodyPr>
          <a:lstStyle/>
          <a:p>
            <a:pPr>
              <a:buFont typeface="Wingdings" panose="05000000000000000000" pitchFamily="2" charset="2"/>
              <a:buChar char="Ø"/>
            </a:pPr>
            <a:r>
              <a:rPr lang="en-US" dirty="0">
                <a:solidFill>
                  <a:schemeClr val="tx1"/>
                </a:solidFill>
              </a:rPr>
              <a:t>Train a model using </a:t>
            </a:r>
            <a:r>
              <a:rPr lang="en-US" b="1" dirty="0">
                <a:solidFill>
                  <a:schemeClr val="tx1"/>
                </a:solidFill>
              </a:rPr>
              <a:t>multiple similar sequences</a:t>
            </a:r>
            <a:r>
              <a:rPr lang="en-US" dirty="0">
                <a:solidFill>
                  <a:schemeClr val="tx1"/>
                </a:solidFill>
              </a:rPr>
              <a:t> representing normal behavior.</a:t>
            </a:r>
          </a:p>
          <a:p>
            <a:pPr>
              <a:buFont typeface="Wingdings" panose="05000000000000000000" pitchFamily="2" charset="2"/>
              <a:buChar char="Ø"/>
            </a:pPr>
            <a:r>
              <a:rPr lang="en-US" dirty="0">
                <a:solidFill>
                  <a:schemeClr val="tx1"/>
                </a:solidFill>
              </a:rPr>
              <a:t>Use the trained model to predict the next value in new sequences.</a:t>
            </a:r>
          </a:p>
          <a:p>
            <a:pPr>
              <a:buFont typeface="Wingdings" panose="05000000000000000000" pitchFamily="2" charset="2"/>
              <a:buChar char="Ø"/>
            </a:pPr>
            <a:r>
              <a:rPr lang="en-US" dirty="0">
                <a:solidFill>
                  <a:schemeClr val="tx1"/>
                </a:solidFill>
              </a:rPr>
              <a:t>Compare predicted and actual values to detect </a:t>
            </a:r>
            <a:r>
              <a:rPr lang="en-US" b="1" dirty="0">
                <a:solidFill>
                  <a:schemeClr val="tx1"/>
                </a:solidFill>
              </a:rPr>
              <a:t>anomalies</a:t>
            </a:r>
            <a:r>
              <a:rPr lang="en-US" dirty="0">
                <a:solidFill>
                  <a:schemeClr val="tx1"/>
                </a:solidFill>
              </a:rPr>
              <a:t>.</a:t>
            </a:r>
          </a:p>
          <a:p>
            <a:pPr>
              <a:buFont typeface="Wingdings" panose="05000000000000000000" pitchFamily="2" charset="2"/>
              <a:buChar char="Ø"/>
            </a:pPr>
            <a:r>
              <a:rPr lang="en-US" dirty="0">
                <a:solidFill>
                  <a:schemeClr val="tx1"/>
                </a:solidFill>
              </a:rPr>
              <a:t>Log results in a </a:t>
            </a:r>
            <a:r>
              <a:rPr lang="en-US" b="1" dirty="0">
                <a:solidFill>
                  <a:schemeClr val="tx1"/>
                </a:solidFill>
              </a:rPr>
              <a:t>CSV file</a:t>
            </a:r>
            <a:r>
              <a:rPr lang="en-US" dirty="0">
                <a:solidFill>
                  <a:schemeClr val="tx1"/>
                </a:solidFill>
              </a:rPr>
              <a:t> and generate </a:t>
            </a:r>
            <a:r>
              <a:rPr lang="en-US" b="1" dirty="0">
                <a:solidFill>
                  <a:schemeClr val="tx1"/>
                </a:solidFill>
              </a:rPr>
              <a:t>graphical representations</a:t>
            </a:r>
            <a:r>
              <a:rPr lang="en-US" dirty="0">
                <a:solidFill>
                  <a:schemeClr val="tx1"/>
                </a:solidFill>
              </a:rPr>
              <a:t>.</a:t>
            </a:r>
          </a:p>
          <a:p>
            <a:pPr>
              <a:buFont typeface="Arial" panose="020B0604020202020204" pitchFamily="34" charset="0"/>
              <a:buChar char="•"/>
            </a:pPr>
            <a:endParaRPr lang="en-US" dirty="0"/>
          </a:p>
          <a:p>
            <a:pPr marL="0" marR="0" algn="just" latinLnBrk="1">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latin typeface="Times New Roman" panose="02020603050405020304" pitchFamily="18" charset="0"/>
                <a:ea typeface="Times New Roman" panose="02020603050405020304" pitchFamily="18" charset="0"/>
              </a:rPr>
              <a:t>Sequence 1: 22, 24, 26, 28, 26, 24, 26, 27, 29, 30, 32, 33, 30, 31, 34, 36, 35, 37, 38, 36, 37, 39, 40, 41, 43, 44</a:t>
            </a:r>
            <a:endParaRPr lang="en-US" sz="1800" dirty="0">
              <a:solidFill>
                <a:schemeClr val="tx1"/>
              </a:solidFill>
              <a:effectLst/>
              <a:latin typeface="Times New Roman" panose="02020603050405020304" pitchFamily="18" charset="0"/>
              <a:ea typeface="SimSun" panose="02010600030101010101" pitchFamily="2" charset="-122"/>
            </a:endParaRPr>
          </a:p>
          <a:p>
            <a:pPr marL="0" marR="0" algn="just" latinLnBrk="1">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latin typeface="Times New Roman" panose="02020603050405020304" pitchFamily="18" charset="0"/>
                <a:ea typeface="Times New Roman" panose="02020603050405020304" pitchFamily="18" charset="0"/>
              </a:rPr>
              <a:t>Sequence 2: 22, 24, 25, 27, 26, 25, 26, 27, 28, 30, 31, 33, 30, 32 , 34, 36, 37, 35, 38, 36, 37, 39, 40, 41, 43, 44</a:t>
            </a:r>
            <a:endParaRPr lang="en-US" sz="1800" dirty="0">
              <a:solidFill>
                <a:schemeClr val="tx1"/>
              </a:solidFill>
              <a:effectLst/>
              <a:latin typeface="Times New Roman" panose="02020603050405020304" pitchFamily="18" charset="0"/>
              <a:ea typeface="SimSun" panose="02010600030101010101" pitchFamily="2" charset="-122"/>
            </a:endParaRPr>
          </a:p>
          <a:p>
            <a:pPr marL="0" marR="0" indent="0" algn="just" latinLnBrk="1">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latin typeface="Times New Roman" panose="02020603050405020304" pitchFamily="18" charset="0"/>
                <a:ea typeface="Times New Roman" panose="02020603050405020304" pitchFamily="18" charset="0"/>
              </a:rPr>
              <a:t>Sequence 3: 22, 24, 23, 24, 26, 24, 26, 28, 29, 30, 33, 34, 32, 31 , 34, 36, 35, 37, 38, 36, 37, 39, 40, 41, 43, 44</a:t>
            </a:r>
            <a:endParaRPr lang="en-US" dirty="0"/>
          </a:p>
          <a:p>
            <a:endParaRPr lang="en-US" dirty="0"/>
          </a:p>
        </p:txBody>
      </p:sp>
      <p:pic>
        <p:nvPicPr>
          <p:cNvPr id="4" name="Picture 3" descr="A blue and black graphic">
            <a:extLst>
              <a:ext uri="{FF2B5EF4-FFF2-40B4-BE49-F238E27FC236}">
                <a16:creationId xmlns:a16="http://schemas.microsoft.com/office/drawing/2014/main" id="{EDF44890-1FD2-FF8D-E3A7-E0568B9C11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8" name="Footer Placeholder 5">
            <a:extLst>
              <a:ext uri="{FF2B5EF4-FFF2-40B4-BE49-F238E27FC236}">
                <a16:creationId xmlns:a16="http://schemas.microsoft.com/office/drawing/2014/main" id="{78507BA2-DAC6-2980-56A1-FA6CFAA0F2FA}"/>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9" name="Slide Number Placeholder 6">
            <a:extLst>
              <a:ext uri="{FF2B5EF4-FFF2-40B4-BE49-F238E27FC236}">
                <a16:creationId xmlns:a16="http://schemas.microsoft.com/office/drawing/2014/main" id="{B2A65583-CA0F-8618-A922-2F19A89BEA61}"/>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4</a:t>
            </a:fld>
            <a:endParaRPr lang="en-US" sz="1200" dirty="0">
              <a:solidFill>
                <a:schemeClr val="tx1"/>
              </a:solidFill>
            </a:endParaRPr>
          </a:p>
        </p:txBody>
      </p:sp>
    </p:spTree>
    <p:extLst>
      <p:ext uri="{BB962C8B-B14F-4D97-AF65-F5344CB8AC3E}">
        <p14:creationId xmlns:p14="http://schemas.microsoft.com/office/powerpoint/2010/main" val="3856923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44ED-D8EE-C74C-ED06-E624EB016224}"/>
              </a:ext>
            </a:extLst>
          </p:cNvPr>
          <p:cNvSpPr>
            <a:spLocks noGrp="1"/>
          </p:cNvSpPr>
          <p:nvPr>
            <p:ph type="title"/>
          </p:nvPr>
        </p:nvSpPr>
        <p:spPr>
          <a:xfrm>
            <a:off x="547331" y="336446"/>
            <a:ext cx="8596668" cy="1320800"/>
          </a:xfrm>
        </p:spPr>
        <p:txBody>
          <a:bodyPr/>
          <a:lstStyle/>
          <a:p>
            <a:r>
              <a:rPr lang="en-US" dirty="0"/>
              <a:t>Algorithm Design</a:t>
            </a:r>
          </a:p>
        </p:txBody>
      </p:sp>
      <p:sp>
        <p:nvSpPr>
          <p:cNvPr id="7" name="Rectangle 4">
            <a:extLst>
              <a:ext uri="{FF2B5EF4-FFF2-40B4-BE49-F238E27FC236}">
                <a16:creationId xmlns:a16="http://schemas.microsoft.com/office/drawing/2014/main" id="{1D296DC7-1871-5391-03B6-3371CB016B5D}"/>
              </a:ext>
            </a:extLst>
          </p:cNvPr>
          <p:cNvSpPr>
            <a:spLocks noChangeArrowheads="1"/>
          </p:cNvSpPr>
          <p:nvPr/>
        </p:nvSpPr>
        <p:spPr bwMode="auto">
          <a:xfrm>
            <a:off x="677334" y="965155"/>
            <a:ext cx="9366076" cy="3570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
                <a:schemeClr val="accent1"/>
              </a:buClr>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cs typeface="Times New Roman" panose="02020603050405020304" pitchFamily="18" charset="0"/>
              </a:rPr>
              <a:t>A machine learning algorithm inspired by the human brain.</a:t>
            </a:r>
          </a:p>
          <a:p>
            <a:pPr marL="342900" marR="0" lvl="0" indent="-342900" algn="l" defTabSz="914400" rtl="0" eaLnBrk="0" fontAlgn="base" latinLnBrk="0" hangingPunct="0">
              <a:lnSpc>
                <a:spcPct val="100000"/>
              </a:lnSpc>
              <a:spcBef>
                <a:spcPct val="0"/>
              </a:spcBef>
              <a:spcAft>
                <a:spcPct val="0"/>
              </a:spcAft>
              <a:buClr>
                <a:schemeClr val="accent1"/>
              </a:buClr>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cs typeface="Times New Roman" panose="02020603050405020304" pitchFamily="18" charset="0"/>
              </a:rPr>
              <a:t>Uses spatial and temporal memory for detecting anomalies.</a:t>
            </a:r>
          </a:p>
          <a:p>
            <a:pPr marL="342900" marR="0" lvl="0" indent="-342900" algn="l" defTabSz="914400" rtl="0" eaLnBrk="0" fontAlgn="base" latinLnBrk="0" hangingPunct="0">
              <a:lnSpc>
                <a:spcPct val="100000"/>
              </a:lnSpc>
              <a:spcBef>
                <a:spcPct val="0"/>
              </a:spcBef>
              <a:spcAft>
                <a:spcPct val="0"/>
              </a:spcAft>
              <a:buClr>
                <a:schemeClr val="accent1"/>
              </a:buClr>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cs typeface="Times New Roman" panose="02020603050405020304" pitchFamily="18" charset="0"/>
              </a:rPr>
              <a:t>Key advantage: Works with streaming data in real time.</a:t>
            </a:r>
          </a:p>
          <a:p>
            <a:pPr marL="285750" marR="0" lvl="0" indent="-285750" algn="l" defTabSz="914400" rtl="0" eaLnBrk="0" fontAlgn="base" latinLnBrk="0" hangingPunct="0">
              <a:lnSpc>
                <a:spcPct val="100000"/>
              </a:lnSpc>
              <a:spcBef>
                <a:spcPct val="0"/>
              </a:spcBef>
              <a:spcAft>
                <a:spcPct val="0"/>
              </a:spcAft>
              <a:buClr>
                <a:schemeClr val="accent1"/>
              </a:buClr>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cs typeface="Times New Roman" panose="02020603050405020304" pitchFamily="18" charset="0"/>
            </a:endParaRPr>
          </a:p>
          <a:p>
            <a:pPr marL="285750" indent="-285750">
              <a:buClr>
                <a:schemeClr val="accent1"/>
              </a:buClr>
              <a:buFont typeface="Wingdings" panose="05000000000000000000" pitchFamily="2" charset="2"/>
              <a:buChar char="Ø"/>
            </a:pPr>
            <a:r>
              <a:rPr lang="en-US" sz="1600" dirty="0">
                <a:cs typeface="Times New Roman" panose="02020603050405020304" pitchFamily="18" charset="0"/>
              </a:rPr>
              <a:t>Data preprocessing for HTM model training.</a:t>
            </a:r>
          </a:p>
          <a:p>
            <a:pPr marL="285750" indent="-285750">
              <a:buClr>
                <a:schemeClr val="accent1"/>
              </a:buClr>
              <a:buFont typeface="Wingdings" panose="05000000000000000000" pitchFamily="2" charset="2"/>
              <a:buChar char="Ø"/>
            </a:pPr>
            <a:r>
              <a:rPr lang="en-US" sz="1600" dirty="0">
                <a:cs typeface="Times New Roman" panose="02020603050405020304" pitchFamily="18" charset="0"/>
              </a:rPr>
              <a:t>HTM core processing for learning sequences.</a:t>
            </a:r>
          </a:p>
          <a:p>
            <a:pPr marL="285750" indent="-285750">
              <a:buClr>
                <a:schemeClr val="accent1"/>
              </a:buClr>
              <a:buFont typeface="Wingdings" panose="05000000000000000000" pitchFamily="2" charset="2"/>
              <a:buChar char="Ø"/>
            </a:pPr>
            <a:r>
              <a:rPr lang="en-US" sz="1600" dirty="0">
                <a:cs typeface="Times New Roman" panose="02020603050405020304" pitchFamily="18" charset="0"/>
              </a:rPr>
              <a:t>Anomaly scoring and alerting mechanisms.</a:t>
            </a:r>
          </a:p>
          <a:p>
            <a:pPr marL="285750" indent="-285750">
              <a:buClr>
                <a:schemeClr val="accent1"/>
              </a:buClr>
              <a:buFont typeface="Wingdings" panose="05000000000000000000" pitchFamily="2" charset="2"/>
              <a:buChar char="Ø"/>
            </a:pPr>
            <a:endParaRPr lang="en-US" sz="1600" dirty="0"/>
          </a:p>
          <a:p>
            <a:pPr marL="285750" indent="-285750">
              <a:buClr>
                <a:schemeClr val="accent1"/>
              </a:buClr>
              <a:buFont typeface="Wingdings" panose="05000000000000000000" pitchFamily="2" charset="2"/>
              <a:buChar char="Ø"/>
            </a:pPr>
            <a:r>
              <a:rPr lang="en-US" sz="1600" dirty="0">
                <a:effectLst/>
                <a:ea typeface="SimSun" panose="02010600030101010101" pitchFamily="2" charset="-122"/>
                <a:cs typeface="Times New Roman" panose="02020603050405020304" pitchFamily="18" charset="0"/>
              </a:rPr>
              <a:t>Hierarchical Temporal Memory (HTM) is a machine learning algorithm that attempts to replicate the functioning of human neocortex. The HTM architecture consists of Spatial Pooler (SP) that transforms input data into Sparse Distributed Representation (SDR) and Temporal Memory (TM) which is responsible for the learning process. Precisely, the input data are fed to the encoder that converts them to binary values that is received by the SP which then generates SDR values</a:t>
            </a:r>
            <a:r>
              <a:rPr lang="en-US" dirty="0">
                <a:ea typeface="SimSun" panose="02010600030101010101" pitchFamily="2" charset="-122"/>
                <a:cs typeface="Times New Roman" panose="02020603050405020304" pitchFamily="18" charset="0"/>
              </a:rPr>
              <a:t>.</a:t>
            </a:r>
            <a:endParaRPr kumimoji="0" lang="en-US" altLang="en-US" sz="1600" b="0" u="none" strike="noStrike" cap="none" normalizeH="0" baseline="0" dirty="0">
              <a:ln>
                <a:noFill/>
              </a:ln>
              <a:solidFill>
                <a:schemeClr val="tx1"/>
              </a:solidFill>
              <a:effectLst/>
              <a:cs typeface="Times New Roman" panose="02020603050405020304" pitchFamily="18" charset="0"/>
            </a:endParaRPr>
          </a:p>
        </p:txBody>
      </p:sp>
      <p:sp>
        <p:nvSpPr>
          <p:cNvPr id="8" name="Rectangle 5">
            <a:extLst>
              <a:ext uri="{FF2B5EF4-FFF2-40B4-BE49-F238E27FC236}">
                <a16:creationId xmlns:a16="http://schemas.microsoft.com/office/drawing/2014/main" id="{13D88910-2D97-6B6B-799E-F7282C39BA4E}"/>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6">
            <a:extLst>
              <a:ext uri="{FF2B5EF4-FFF2-40B4-BE49-F238E27FC236}">
                <a16:creationId xmlns:a16="http://schemas.microsoft.com/office/drawing/2014/main" id="{DDD3D095-B809-11F8-B64E-F6895706E5D5}"/>
              </a:ext>
            </a:extLst>
          </p:cNvPr>
          <p:cNvSpPr>
            <a:spLocks noChangeArrowheads="1"/>
          </p:cNvSpPr>
          <p:nvPr/>
        </p:nvSpPr>
        <p:spPr bwMode="auto">
          <a:xfrm>
            <a:off x="0" y="158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2" name="Picture 11" descr="A blue and black graphic">
            <a:extLst>
              <a:ext uri="{FF2B5EF4-FFF2-40B4-BE49-F238E27FC236}">
                <a16:creationId xmlns:a16="http://schemas.microsoft.com/office/drawing/2014/main" id="{55151377-DEEA-7F6B-3542-CF3CA7F28F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pic>
        <p:nvPicPr>
          <p:cNvPr id="13" name="Picture 12">
            <a:extLst>
              <a:ext uri="{FF2B5EF4-FFF2-40B4-BE49-F238E27FC236}">
                <a16:creationId xmlns:a16="http://schemas.microsoft.com/office/drawing/2014/main" id="{991CF239-3311-8BBE-AE69-3CF31BBFC4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6831" y="4633635"/>
            <a:ext cx="5567082" cy="1955851"/>
          </a:xfrm>
          <a:prstGeom prst="rect">
            <a:avLst/>
          </a:prstGeom>
        </p:spPr>
      </p:pic>
      <p:sp>
        <p:nvSpPr>
          <p:cNvPr id="17" name="Footer Placeholder 5">
            <a:extLst>
              <a:ext uri="{FF2B5EF4-FFF2-40B4-BE49-F238E27FC236}">
                <a16:creationId xmlns:a16="http://schemas.microsoft.com/office/drawing/2014/main" id="{E38CC8E2-5FBE-D36F-CC1F-480C9B9402E9}"/>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18" name="Slide Number Placeholder 6">
            <a:extLst>
              <a:ext uri="{FF2B5EF4-FFF2-40B4-BE49-F238E27FC236}">
                <a16:creationId xmlns:a16="http://schemas.microsoft.com/office/drawing/2014/main" id="{B09EEBDD-A646-9F05-F295-9329DC36ADF2}"/>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5</a:t>
            </a:fld>
            <a:endParaRPr lang="en-US" sz="1200" dirty="0">
              <a:solidFill>
                <a:schemeClr val="tx1"/>
              </a:solidFill>
            </a:endParaRPr>
          </a:p>
        </p:txBody>
      </p:sp>
    </p:spTree>
    <p:extLst>
      <p:ext uri="{BB962C8B-B14F-4D97-AF65-F5344CB8AC3E}">
        <p14:creationId xmlns:p14="http://schemas.microsoft.com/office/powerpoint/2010/main" val="156006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6FAAD-38BF-D2D8-60B9-1120D928811D}"/>
              </a:ext>
            </a:extLst>
          </p:cNvPr>
          <p:cNvSpPr>
            <a:spLocks noGrp="1"/>
          </p:cNvSpPr>
          <p:nvPr>
            <p:ph type="title"/>
          </p:nvPr>
        </p:nvSpPr>
        <p:spPr/>
        <p:txBody>
          <a:bodyPr/>
          <a:lstStyle/>
          <a:p>
            <a:r>
              <a:rPr lang="en-US" dirty="0"/>
              <a:t>Anomaly Detection Logic</a:t>
            </a:r>
          </a:p>
        </p:txBody>
      </p:sp>
      <p:sp>
        <p:nvSpPr>
          <p:cNvPr id="3" name="Content Placeholder 2">
            <a:extLst>
              <a:ext uri="{FF2B5EF4-FFF2-40B4-BE49-F238E27FC236}">
                <a16:creationId xmlns:a16="http://schemas.microsoft.com/office/drawing/2014/main" id="{D92EC26B-974D-33D4-7861-53EBEE8BF26F}"/>
              </a:ext>
            </a:extLst>
          </p:cNvPr>
          <p:cNvSpPr>
            <a:spLocks noGrp="1"/>
          </p:cNvSpPr>
          <p:nvPr>
            <p:ph idx="1"/>
          </p:nvPr>
        </p:nvSpPr>
        <p:spPr>
          <a:xfrm>
            <a:off x="609966" y="1740865"/>
            <a:ext cx="8596668" cy="3880773"/>
          </a:xfrm>
        </p:spPr>
        <p:txBody>
          <a:bodyPr/>
          <a:lstStyle/>
          <a:p>
            <a:pPr>
              <a:buFont typeface="Wingdings" panose="05000000000000000000" pitchFamily="2" charset="2"/>
              <a:buChar char="Ø"/>
            </a:pPr>
            <a:r>
              <a:rPr lang="en-US" dirty="0">
                <a:solidFill>
                  <a:schemeClr val="tx1"/>
                </a:solidFill>
              </a:rPr>
              <a:t>Predicted value at time </a:t>
            </a:r>
            <a:r>
              <a:rPr lang="en-US" i="1" dirty="0">
                <a:solidFill>
                  <a:schemeClr val="tx1"/>
                </a:solidFill>
              </a:rPr>
              <a:t>t</a:t>
            </a:r>
            <a:r>
              <a:rPr lang="en-US" dirty="0">
                <a:solidFill>
                  <a:schemeClr val="tx1"/>
                </a:solidFill>
              </a:rPr>
              <a:t> is denoted as </a:t>
            </a:r>
            <a:r>
              <a:rPr lang="en-US" b="1" dirty="0">
                <a:solidFill>
                  <a:schemeClr val="tx1"/>
                </a:solidFill>
              </a:rPr>
              <a:t>P</a:t>
            </a:r>
            <a:r>
              <a:rPr lang="en-US" dirty="0">
                <a:solidFill>
                  <a:schemeClr val="tx1"/>
                </a:solidFill>
              </a:rPr>
              <a:t>.</a:t>
            </a:r>
          </a:p>
          <a:p>
            <a:pPr>
              <a:buFont typeface="Wingdings" panose="05000000000000000000" pitchFamily="2" charset="2"/>
              <a:buChar char="Ø"/>
            </a:pPr>
            <a:r>
              <a:rPr lang="en-US" dirty="0">
                <a:solidFill>
                  <a:schemeClr val="tx1"/>
                </a:solidFill>
              </a:rPr>
              <a:t>Actual observed value at time </a:t>
            </a:r>
            <a:r>
              <a:rPr lang="en-US" i="1" dirty="0">
                <a:solidFill>
                  <a:schemeClr val="tx1"/>
                </a:solidFill>
              </a:rPr>
              <a:t>t</a:t>
            </a:r>
            <a:r>
              <a:rPr lang="en-US" dirty="0">
                <a:solidFill>
                  <a:schemeClr val="tx1"/>
                </a:solidFill>
              </a:rPr>
              <a:t> is </a:t>
            </a:r>
            <a:r>
              <a:rPr lang="en-US" b="1" dirty="0">
                <a:solidFill>
                  <a:schemeClr val="tx1"/>
                </a:solidFill>
              </a:rPr>
              <a:t>A</a:t>
            </a:r>
            <a:r>
              <a:rPr lang="en-US" dirty="0">
                <a:solidFill>
                  <a:schemeClr val="tx1"/>
                </a:solidFill>
              </a:rPr>
              <a:t>.</a:t>
            </a:r>
          </a:p>
          <a:p>
            <a:pPr>
              <a:buFont typeface="Wingdings" panose="05000000000000000000" pitchFamily="2" charset="2"/>
              <a:buChar char="Ø"/>
            </a:pPr>
            <a:r>
              <a:rPr lang="en-US" b="1" dirty="0">
                <a:solidFill>
                  <a:schemeClr val="tx1"/>
                </a:solidFill>
              </a:rPr>
              <a:t>Anomaly Condition:</a:t>
            </a:r>
            <a:endParaRPr lang="en-US" dirty="0">
              <a:solidFill>
                <a:schemeClr val="tx1"/>
              </a:solidFill>
            </a:endParaRPr>
          </a:p>
        </p:txBody>
      </p:sp>
      <p:pic>
        <p:nvPicPr>
          <p:cNvPr id="4" name="Picture 3" descr="A blue and black graphic">
            <a:extLst>
              <a:ext uri="{FF2B5EF4-FFF2-40B4-BE49-F238E27FC236}">
                <a16:creationId xmlns:a16="http://schemas.microsoft.com/office/drawing/2014/main" id="{788A1CF7-C5A9-4B57-89CA-06ECAB299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8" name="Footer Placeholder 5">
            <a:extLst>
              <a:ext uri="{FF2B5EF4-FFF2-40B4-BE49-F238E27FC236}">
                <a16:creationId xmlns:a16="http://schemas.microsoft.com/office/drawing/2014/main" id="{A1D675D8-95C5-3A71-334C-3AF36D81DD12}"/>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9" name="Slide Number Placeholder 6">
            <a:extLst>
              <a:ext uri="{FF2B5EF4-FFF2-40B4-BE49-F238E27FC236}">
                <a16:creationId xmlns:a16="http://schemas.microsoft.com/office/drawing/2014/main" id="{0A0CE0CC-3FA7-35C6-A864-DB776FBF2954}"/>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6</a:t>
            </a:fld>
            <a:endParaRPr lang="en-US" sz="1200" dirty="0">
              <a:solidFill>
                <a:schemeClr val="tx1"/>
              </a:solidFill>
            </a:endParaRPr>
          </a:p>
        </p:txBody>
      </p:sp>
      <p:pic>
        <p:nvPicPr>
          <p:cNvPr id="6" name="Picture 5" descr="A black text on a white background">
            <a:extLst>
              <a:ext uri="{FF2B5EF4-FFF2-40B4-BE49-F238E27FC236}">
                <a16:creationId xmlns:a16="http://schemas.microsoft.com/office/drawing/2014/main" id="{E29DC49C-E6AB-E341-E88B-1E2D958E0F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7615" y="3048391"/>
            <a:ext cx="5936105" cy="1177716"/>
          </a:xfrm>
          <a:prstGeom prst="rect">
            <a:avLst/>
          </a:prstGeom>
        </p:spPr>
      </p:pic>
      <p:sp>
        <p:nvSpPr>
          <p:cNvPr id="10" name="TextBox 9">
            <a:extLst>
              <a:ext uri="{FF2B5EF4-FFF2-40B4-BE49-F238E27FC236}">
                <a16:creationId xmlns:a16="http://schemas.microsoft.com/office/drawing/2014/main" id="{812910AD-3315-116B-95CB-AF2237EF6C54}"/>
              </a:ext>
            </a:extLst>
          </p:cNvPr>
          <p:cNvSpPr txBox="1"/>
          <p:nvPr/>
        </p:nvSpPr>
        <p:spPr>
          <a:xfrm>
            <a:off x="677334" y="4226107"/>
            <a:ext cx="9291125" cy="2123658"/>
          </a:xfrm>
          <a:prstGeom prst="rect">
            <a:avLst/>
          </a:prstGeom>
          <a:noFill/>
        </p:spPr>
        <p:txBody>
          <a:bodyPr wrap="square">
            <a:spAutoFit/>
          </a:bodyPr>
          <a:lstStyle/>
          <a:p>
            <a:pPr marR="0" lvl="0" algn="l" latinLnBrk="1">
              <a:buSzPts val="1000"/>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dirty="0">
                <a:ea typeface="SimSun" panose="02010600030101010101" pitchFamily="2" charset="-122"/>
              </a:rPr>
              <a:t>W</a:t>
            </a:r>
            <a:r>
              <a:rPr lang="en-US" sz="1200" dirty="0">
                <a:effectLst/>
                <a:ea typeface="SimSun" panose="02010600030101010101" pitchFamily="2" charset="-122"/>
              </a:rPr>
              <a:t>here,</a:t>
            </a:r>
          </a:p>
          <a:p>
            <a:pPr marL="342900" marR="0" lvl="0" indent="-342900" algn="l" latinLnBrk="1">
              <a:buSzPts val="1000"/>
              <a:buFont typeface="Wingdings" panose="05000000000000000000" pitchFamily="2" charset="2"/>
              <a:buChar char="Ø"/>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dirty="0">
                <a:effectLst/>
                <a:ea typeface="SimSun" panose="02010600030101010101" pitchFamily="2" charset="-122"/>
              </a:rPr>
              <a:t>P: Predicted value </a:t>
            </a:r>
          </a:p>
          <a:p>
            <a:pPr marL="342900" marR="0" lvl="0" indent="-342900" algn="l" latinLnBrk="1">
              <a:buSzPts val="1000"/>
              <a:buFont typeface="Wingdings" panose="05000000000000000000" pitchFamily="2" charset="2"/>
              <a:buChar char="Ø"/>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dirty="0">
                <a:effectLst/>
                <a:ea typeface="SimSun" panose="02010600030101010101" pitchFamily="2" charset="-122"/>
              </a:rPr>
              <a:t>A: Actual value </a:t>
            </a:r>
          </a:p>
          <a:p>
            <a:pPr marL="342900" marR="0" lvl="0" indent="-342900" algn="l" latinLnBrk="1">
              <a:buSzPts val="1000"/>
              <a:buFont typeface="Wingdings" panose="05000000000000000000" pitchFamily="2" charset="2"/>
              <a:buChar char="Ø"/>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dirty="0">
                <a:effectLst/>
                <a:ea typeface="SimSun" panose="02010600030101010101" pitchFamily="2" charset="-122"/>
              </a:rPr>
              <a:t>T</a:t>
            </a:r>
            <a:r>
              <a:rPr lang="en-US" sz="1200" baseline="-25000" dirty="0">
                <a:effectLst/>
                <a:ea typeface="SimSun" panose="02010600030101010101" pitchFamily="2" charset="-122"/>
              </a:rPr>
              <a:t>abs</a:t>
            </a:r>
            <a:r>
              <a:rPr lang="en-US" sz="1200" dirty="0">
                <a:effectLst/>
                <a:ea typeface="SimSun" panose="02010600030101010101" pitchFamily="2" charset="-122"/>
              </a:rPr>
              <a:t>​: Absolute threshold</a:t>
            </a:r>
          </a:p>
          <a:p>
            <a:pPr marL="342900" marR="0" lvl="0" indent="-342900" algn="l" latinLnBrk="1">
              <a:buSzPts val="1000"/>
              <a:buFont typeface="Wingdings" panose="05000000000000000000" pitchFamily="2" charset="2"/>
              <a:buChar char="Ø"/>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dirty="0" err="1">
                <a:effectLst/>
                <a:ea typeface="SimSun" panose="02010600030101010101" pitchFamily="2" charset="-122"/>
              </a:rPr>
              <a:t>T</a:t>
            </a:r>
            <a:r>
              <a:rPr lang="en-US" sz="1200" baseline="-25000" dirty="0" err="1">
                <a:effectLst/>
                <a:ea typeface="SimSun" panose="02010600030101010101" pitchFamily="2" charset="-122"/>
              </a:rPr>
              <a:t>rel</a:t>
            </a:r>
            <a:r>
              <a:rPr lang="en-US" sz="1200" baseline="-25000" dirty="0">
                <a:effectLst/>
                <a:ea typeface="SimSun" panose="02010600030101010101" pitchFamily="2" charset="-122"/>
              </a:rPr>
              <a:t>​</a:t>
            </a:r>
            <a:r>
              <a:rPr lang="en-US" sz="1200" dirty="0">
                <a:effectLst/>
                <a:ea typeface="SimSun" panose="02010600030101010101" pitchFamily="2" charset="-122"/>
              </a:rPr>
              <a:t>: Relative tolerance</a:t>
            </a:r>
          </a:p>
          <a:p>
            <a:pPr marR="0" lvl="0" algn="l" latinLnBrk="1">
              <a:buSzPts val="1000"/>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200" dirty="0">
              <a:ea typeface="SimSun" panose="02010600030101010101" pitchFamily="2" charset="-122"/>
            </a:endParaRPr>
          </a:p>
          <a:p>
            <a:pPr marR="0" lvl="0" algn="l" latinLnBrk="1">
              <a:buSzPts val="1000"/>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dirty="0">
                <a:effectLst/>
                <a:ea typeface="SimSun" panose="02010600030101010101" pitchFamily="2" charset="-122"/>
              </a:rPr>
              <a:t>Tolerance Value is 10%</a:t>
            </a:r>
          </a:p>
          <a:p>
            <a:pPr marR="0" lvl="0" algn="l" latinLnBrk="1">
              <a:buSzPts val="1000"/>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dirty="0">
                <a:ea typeface="SimSun" panose="02010600030101010101" pitchFamily="2" charset="-122"/>
              </a:rPr>
              <a:t>Threshold = Relative Threshold*</a:t>
            </a:r>
          </a:p>
          <a:p>
            <a:pPr marR="0" lvl="0" algn="l" latinLnBrk="1">
              <a:buSzPts val="1000"/>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200" dirty="0">
              <a:ea typeface="SimSun" panose="02010600030101010101" pitchFamily="2" charset="-122"/>
            </a:endParaRPr>
          </a:p>
          <a:p>
            <a:pPr marR="0" lvl="0" algn="l" latinLnBrk="1">
              <a:buSzPts val="1000"/>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200" dirty="0">
              <a:ea typeface="SimSun" panose="02010600030101010101" pitchFamily="2" charset="-122"/>
            </a:endParaRPr>
          </a:p>
          <a:p>
            <a:pPr marR="0" lvl="0" algn="l" latinLnBrk="1">
              <a:buSzPts val="1000"/>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i="1" dirty="0">
                <a:effectLst/>
                <a:ea typeface="SimSun" panose="02010600030101010101" pitchFamily="2" charset="-122"/>
              </a:rPr>
              <a:t> *The absolute deviation threshold, determined as the minimum value from both training and inference sequence</a:t>
            </a:r>
          </a:p>
        </p:txBody>
      </p:sp>
    </p:spTree>
    <p:extLst>
      <p:ext uri="{BB962C8B-B14F-4D97-AF65-F5344CB8AC3E}">
        <p14:creationId xmlns:p14="http://schemas.microsoft.com/office/powerpoint/2010/main" val="1369585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36E40-7FF3-3977-30AD-BE7A33ADA74C}"/>
              </a:ext>
            </a:extLst>
          </p:cNvPr>
          <p:cNvSpPr>
            <a:spLocks noGrp="1"/>
          </p:cNvSpPr>
          <p:nvPr>
            <p:ph type="title"/>
          </p:nvPr>
        </p:nvSpPr>
        <p:spPr>
          <a:xfrm>
            <a:off x="650130" y="264663"/>
            <a:ext cx="8596668" cy="852276"/>
          </a:xfrm>
        </p:spPr>
        <p:txBody>
          <a:bodyPr/>
          <a:lstStyle/>
          <a:p>
            <a:r>
              <a:rPr lang="en-US" dirty="0"/>
              <a:t>Project Workflow</a:t>
            </a:r>
          </a:p>
        </p:txBody>
      </p:sp>
      <p:sp>
        <p:nvSpPr>
          <p:cNvPr id="6" name="Rectangle: Rounded Corners 5">
            <a:extLst>
              <a:ext uri="{FF2B5EF4-FFF2-40B4-BE49-F238E27FC236}">
                <a16:creationId xmlns:a16="http://schemas.microsoft.com/office/drawing/2014/main" id="{2FD2E490-4ACB-CCB2-4D9D-96327A0A3152}"/>
              </a:ext>
            </a:extLst>
          </p:cNvPr>
          <p:cNvSpPr/>
          <p:nvPr/>
        </p:nvSpPr>
        <p:spPr>
          <a:xfrm>
            <a:off x="1214203" y="2212057"/>
            <a:ext cx="2248525" cy="704538"/>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n w="0"/>
                <a:solidFill>
                  <a:schemeClr val="accent1"/>
                </a:solidFill>
                <a:effectLst>
                  <a:outerShdw blurRad="38100" dist="25400" dir="5400000" algn="ctr" rotWithShape="0">
                    <a:srgbClr val="6E747A">
                      <a:alpha val="43000"/>
                    </a:srgbClr>
                  </a:outerShdw>
                </a:effectLst>
              </a:rPr>
              <a:t>Program.cs</a:t>
            </a:r>
            <a:endParaRPr lang="en-US" dirty="0">
              <a:ln w="0"/>
              <a:solidFill>
                <a:schemeClr val="accent1"/>
              </a:solidFill>
              <a:effectLst>
                <a:outerShdw blurRad="38100" dist="25400" dir="5400000" algn="ctr" rotWithShape="0">
                  <a:srgbClr val="6E747A">
                    <a:alpha val="43000"/>
                  </a:srgbClr>
                </a:outerShdw>
              </a:effectLst>
            </a:endParaRPr>
          </a:p>
        </p:txBody>
      </p:sp>
      <p:sp>
        <p:nvSpPr>
          <p:cNvPr id="7" name="Rectangle: Rounded Corners 6">
            <a:extLst>
              <a:ext uri="{FF2B5EF4-FFF2-40B4-BE49-F238E27FC236}">
                <a16:creationId xmlns:a16="http://schemas.microsoft.com/office/drawing/2014/main" id="{5EECCCDD-5EA1-A782-117C-8D7797C5F093}"/>
              </a:ext>
            </a:extLst>
          </p:cNvPr>
          <p:cNvSpPr/>
          <p:nvPr/>
        </p:nvSpPr>
        <p:spPr>
          <a:xfrm>
            <a:off x="1214203" y="3577827"/>
            <a:ext cx="2248525" cy="704538"/>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accent1"/>
                </a:solidFill>
                <a:effectLst>
                  <a:outerShdw blurRad="38100" dist="25400" dir="5400000" algn="ctr" rotWithShape="0">
                    <a:srgbClr val="6E747A">
                      <a:alpha val="43000"/>
                    </a:srgbClr>
                  </a:outerShdw>
                </a:effectLst>
              </a:rPr>
              <a:t>Console Arguments Handler</a:t>
            </a:r>
          </a:p>
        </p:txBody>
      </p:sp>
      <p:sp>
        <p:nvSpPr>
          <p:cNvPr id="9" name="Rectangle: Rounded Corners 8">
            <a:extLst>
              <a:ext uri="{FF2B5EF4-FFF2-40B4-BE49-F238E27FC236}">
                <a16:creationId xmlns:a16="http://schemas.microsoft.com/office/drawing/2014/main" id="{A8402AC8-5DB3-11B4-4603-C7CE4D992216}"/>
              </a:ext>
            </a:extLst>
          </p:cNvPr>
          <p:cNvSpPr/>
          <p:nvPr/>
        </p:nvSpPr>
        <p:spPr>
          <a:xfrm>
            <a:off x="4726420" y="2209219"/>
            <a:ext cx="2248525" cy="704538"/>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accent1"/>
                </a:solidFill>
                <a:effectLst>
                  <a:outerShdw blurRad="38100" dist="25400" dir="5400000" algn="ctr" rotWithShape="0">
                    <a:srgbClr val="6E747A">
                      <a:alpha val="43000"/>
                    </a:srgbClr>
                  </a:outerShdw>
                </a:effectLst>
              </a:rPr>
              <a:t>File Handler</a:t>
            </a:r>
          </a:p>
        </p:txBody>
      </p:sp>
      <p:sp>
        <p:nvSpPr>
          <p:cNvPr id="10" name="Rectangle: Rounded Corners 9">
            <a:extLst>
              <a:ext uri="{FF2B5EF4-FFF2-40B4-BE49-F238E27FC236}">
                <a16:creationId xmlns:a16="http://schemas.microsoft.com/office/drawing/2014/main" id="{BA4010E5-C9EC-B542-6488-7D132734A9AA}"/>
              </a:ext>
            </a:extLst>
          </p:cNvPr>
          <p:cNvSpPr/>
          <p:nvPr/>
        </p:nvSpPr>
        <p:spPr>
          <a:xfrm>
            <a:off x="4726421" y="3487887"/>
            <a:ext cx="2248525" cy="704538"/>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accent1"/>
                </a:solidFill>
                <a:effectLst>
                  <a:outerShdw blurRad="38100" dist="25400" dir="5400000" algn="ctr" rotWithShape="0">
                    <a:srgbClr val="6E747A">
                      <a:alpha val="43000"/>
                    </a:srgbClr>
                  </a:outerShdw>
                </a:effectLst>
              </a:rPr>
              <a:t>CSV Handler</a:t>
            </a:r>
          </a:p>
        </p:txBody>
      </p:sp>
      <p:sp>
        <p:nvSpPr>
          <p:cNvPr id="11" name="Rectangle: Rounded Corners 10">
            <a:extLst>
              <a:ext uri="{FF2B5EF4-FFF2-40B4-BE49-F238E27FC236}">
                <a16:creationId xmlns:a16="http://schemas.microsoft.com/office/drawing/2014/main" id="{E4DA6D31-DF10-06B4-55C2-3A60B4710761}"/>
              </a:ext>
            </a:extLst>
          </p:cNvPr>
          <p:cNvSpPr/>
          <p:nvPr/>
        </p:nvSpPr>
        <p:spPr>
          <a:xfrm>
            <a:off x="4726420" y="4853660"/>
            <a:ext cx="2248525" cy="704538"/>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accent1"/>
                </a:solidFill>
                <a:effectLst>
                  <a:outerShdw blurRad="38100" dist="25400" dir="5400000" algn="ctr" rotWithShape="0">
                    <a:srgbClr val="6E747A">
                      <a:alpha val="43000"/>
                    </a:srgbClr>
                  </a:outerShdw>
                </a:effectLst>
              </a:rPr>
              <a:t>CSV TO HTM Input</a:t>
            </a:r>
          </a:p>
        </p:txBody>
      </p:sp>
      <p:sp>
        <p:nvSpPr>
          <p:cNvPr id="12" name="Rectangle: Rounded Corners 11">
            <a:extLst>
              <a:ext uri="{FF2B5EF4-FFF2-40B4-BE49-F238E27FC236}">
                <a16:creationId xmlns:a16="http://schemas.microsoft.com/office/drawing/2014/main" id="{A3F82C76-3AB1-40F9-7BA0-D1CBE49CE75D}"/>
              </a:ext>
            </a:extLst>
          </p:cNvPr>
          <p:cNvSpPr/>
          <p:nvPr/>
        </p:nvSpPr>
        <p:spPr>
          <a:xfrm>
            <a:off x="7737422" y="3502877"/>
            <a:ext cx="2233015" cy="704538"/>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accent1"/>
                </a:solidFill>
                <a:effectLst>
                  <a:outerShdw blurRad="38100" dist="25400" dir="5400000" algn="ctr" rotWithShape="0">
                    <a:srgbClr val="6E747A">
                      <a:alpha val="43000"/>
                    </a:srgbClr>
                  </a:outerShdw>
                </a:effectLst>
              </a:rPr>
              <a:t>Multisequence Learning</a:t>
            </a:r>
          </a:p>
        </p:txBody>
      </p:sp>
      <p:sp>
        <p:nvSpPr>
          <p:cNvPr id="14" name="Arrow: Down 13">
            <a:extLst>
              <a:ext uri="{FF2B5EF4-FFF2-40B4-BE49-F238E27FC236}">
                <a16:creationId xmlns:a16="http://schemas.microsoft.com/office/drawing/2014/main" id="{4BD8F262-5A6E-50EB-91CD-A6D04174E5B7}"/>
              </a:ext>
            </a:extLst>
          </p:cNvPr>
          <p:cNvSpPr/>
          <p:nvPr/>
        </p:nvSpPr>
        <p:spPr>
          <a:xfrm>
            <a:off x="2113613" y="2916595"/>
            <a:ext cx="313752" cy="6612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Down 15">
            <a:extLst>
              <a:ext uri="{FF2B5EF4-FFF2-40B4-BE49-F238E27FC236}">
                <a16:creationId xmlns:a16="http://schemas.microsoft.com/office/drawing/2014/main" id="{44802A2C-59FA-D1F4-5217-464498D9946B}"/>
              </a:ext>
            </a:extLst>
          </p:cNvPr>
          <p:cNvSpPr/>
          <p:nvPr/>
        </p:nvSpPr>
        <p:spPr>
          <a:xfrm>
            <a:off x="5693806" y="2913756"/>
            <a:ext cx="313752" cy="57646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Down 16">
            <a:extLst>
              <a:ext uri="{FF2B5EF4-FFF2-40B4-BE49-F238E27FC236}">
                <a16:creationId xmlns:a16="http://schemas.microsoft.com/office/drawing/2014/main" id="{FCFCE030-0EC7-72B9-0B76-59DB68EDF0BE}"/>
              </a:ext>
            </a:extLst>
          </p:cNvPr>
          <p:cNvSpPr/>
          <p:nvPr/>
        </p:nvSpPr>
        <p:spPr>
          <a:xfrm>
            <a:off x="5693806" y="4180606"/>
            <a:ext cx="313752" cy="6612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Bent 23">
            <a:extLst>
              <a:ext uri="{FF2B5EF4-FFF2-40B4-BE49-F238E27FC236}">
                <a16:creationId xmlns:a16="http://schemas.microsoft.com/office/drawing/2014/main" id="{6365F7D9-B625-82FD-7601-984EE6935AFF}"/>
              </a:ext>
            </a:extLst>
          </p:cNvPr>
          <p:cNvSpPr/>
          <p:nvPr/>
        </p:nvSpPr>
        <p:spPr>
          <a:xfrm>
            <a:off x="7225259" y="3696248"/>
            <a:ext cx="500950" cy="1520330"/>
          </a:xfrm>
          <a:prstGeom prst="bentArrow">
            <a:avLst>
              <a:gd name="adj1" fmla="val 23034"/>
              <a:gd name="adj2" fmla="val 25000"/>
              <a:gd name="adj3" fmla="val 2500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Minus Sign 24">
            <a:extLst>
              <a:ext uri="{FF2B5EF4-FFF2-40B4-BE49-F238E27FC236}">
                <a16:creationId xmlns:a16="http://schemas.microsoft.com/office/drawing/2014/main" id="{95960B9B-2D4C-075A-CEE9-6144E85A567E}"/>
              </a:ext>
            </a:extLst>
          </p:cNvPr>
          <p:cNvSpPr/>
          <p:nvPr/>
        </p:nvSpPr>
        <p:spPr>
          <a:xfrm>
            <a:off x="6909587" y="4883640"/>
            <a:ext cx="500950" cy="556611"/>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Right 34">
            <a:extLst>
              <a:ext uri="{FF2B5EF4-FFF2-40B4-BE49-F238E27FC236}">
                <a16:creationId xmlns:a16="http://schemas.microsoft.com/office/drawing/2014/main" id="{B3C4DB46-AE3F-1888-F45E-839B73CB7AE3}"/>
              </a:ext>
            </a:extLst>
          </p:cNvPr>
          <p:cNvSpPr/>
          <p:nvPr/>
        </p:nvSpPr>
        <p:spPr>
          <a:xfrm>
            <a:off x="3462727" y="2405595"/>
            <a:ext cx="1263693" cy="2889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375CCA15-FE9B-B410-B5DE-EA3311E2892C}"/>
              </a:ext>
            </a:extLst>
          </p:cNvPr>
          <p:cNvSpPr/>
          <p:nvPr/>
        </p:nvSpPr>
        <p:spPr>
          <a:xfrm>
            <a:off x="7721912" y="4885308"/>
            <a:ext cx="2248525" cy="704538"/>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accent1"/>
                </a:solidFill>
                <a:effectLst>
                  <a:outerShdw blurRad="38100" dist="25400" dir="5400000" algn="ctr" rotWithShape="0">
                    <a:srgbClr val="6E747A">
                      <a:alpha val="43000"/>
                    </a:srgbClr>
                  </a:outerShdw>
                </a:effectLst>
              </a:rPr>
              <a:t>Anomaly Detection</a:t>
            </a:r>
          </a:p>
        </p:txBody>
      </p:sp>
      <p:sp>
        <p:nvSpPr>
          <p:cNvPr id="37" name="Arrow: Down 36">
            <a:extLst>
              <a:ext uri="{FF2B5EF4-FFF2-40B4-BE49-F238E27FC236}">
                <a16:creationId xmlns:a16="http://schemas.microsoft.com/office/drawing/2014/main" id="{238FBDB2-D21D-1758-E764-7D69FC7C5D17}"/>
              </a:ext>
            </a:extLst>
          </p:cNvPr>
          <p:cNvSpPr/>
          <p:nvPr/>
        </p:nvSpPr>
        <p:spPr>
          <a:xfrm>
            <a:off x="8703899" y="4210586"/>
            <a:ext cx="313752" cy="6612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Arrow: Bent 38">
            <a:extLst>
              <a:ext uri="{FF2B5EF4-FFF2-40B4-BE49-F238E27FC236}">
                <a16:creationId xmlns:a16="http://schemas.microsoft.com/office/drawing/2014/main" id="{BA7196AF-F545-1B03-3193-AD89A8842BD5}"/>
              </a:ext>
            </a:extLst>
          </p:cNvPr>
          <p:cNvSpPr/>
          <p:nvPr/>
        </p:nvSpPr>
        <p:spPr>
          <a:xfrm>
            <a:off x="3963945" y="3723057"/>
            <a:ext cx="716484" cy="2408245"/>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0" name="Minus Sign 39">
            <a:extLst>
              <a:ext uri="{FF2B5EF4-FFF2-40B4-BE49-F238E27FC236}">
                <a16:creationId xmlns:a16="http://schemas.microsoft.com/office/drawing/2014/main" id="{C64766E7-DE04-F5E6-9721-D2D5864017D1}"/>
              </a:ext>
            </a:extLst>
          </p:cNvPr>
          <p:cNvSpPr/>
          <p:nvPr/>
        </p:nvSpPr>
        <p:spPr>
          <a:xfrm>
            <a:off x="3266110" y="5692281"/>
            <a:ext cx="6462506" cy="704538"/>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Minus Sign 40">
            <a:extLst>
              <a:ext uri="{FF2B5EF4-FFF2-40B4-BE49-F238E27FC236}">
                <a16:creationId xmlns:a16="http://schemas.microsoft.com/office/drawing/2014/main" id="{6117F011-42C7-4A1C-5FD0-53F1ABB9AF64}"/>
              </a:ext>
            </a:extLst>
          </p:cNvPr>
          <p:cNvSpPr/>
          <p:nvPr/>
        </p:nvSpPr>
        <p:spPr>
          <a:xfrm rot="16200000">
            <a:off x="8432321" y="5504471"/>
            <a:ext cx="724361" cy="704538"/>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Rounded Corners 41">
            <a:extLst>
              <a:ext uri="{FF2B5EF4-FFF2-40B4-BE49-F238E27FC236}">
                <a16:creationId xmlns:a16="http://schemas.microsoft.com/office/drawing/2014/main" id="{D799679B-EE07-2497-8D5E-374B99A15AD2}"/>
              </a:ext>
            </a:extLst>
          </p:cNvPr>
          <p:cNvSpPr/>
          <p:nvPr/>
        </p:nvSpPr>
        <p:spPr>
          <a:xfrm>
            <a:off x="1214203" y="1052280"/>
            <a:ext cx="2248525" cy="704538"/>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accent1"/>
                </a:solidFill>
                <a:effectLst>
                  <a:outerShdw blurRad="38100" dist="25400" dir="5400000" algn="ctr" rotWithShape="0">
                    <a:srgbClr val="6E747A">
                      <a:alpha val="43000"/>
                    </a:srgbClr>
                  </a:outerShdw>
                </a:effectLst>
              </a:rPr>
              <a:t>Entry Point</a:t>
            </a:r>
          </a:p>
        </p:txBody>
      </p:sp>
      <p:sp>
        <p:nvSpPr>
          <p:cNvPr id="43" name="Arrow: Down 42">
            <a:extLst>
              <a:ext uri="{FF2B5EF4-FFF2-40B4-BE49-F238E27FC236}">
                <a16:creationId xmlns:a16="http://schemas.microsoft.com/office/drawing/2014/main" id="{1D4B9AED-E32B-44E9-91CB-0F473658B512}"/>
              </a:ext>
            </a:extLst>
          </p:cNvPr>
          <p:cNvSpPr/>
          <p:nvPr/>
        </p:nvSpPr>
        <p:spPr>
          <a:xfrm>
            <a:off x="2113613" y="1756817"/>
            <a:ext cx="313752" cy="4560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6">
            <a:extLst>
              <a:ext uri="{FF2B5EF4-FFF2-40B4-BE49-F238E27FC236}">
                <a16:creationId xmlns:a16="http://schemas.microsoft.com/office/drawing/2014/main" id="{47861C2A-1125-6B70-63DA-36DFF00C60D1}"/>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7</a:t>
            </a:fld>
            <a:endParaRPr lang="en-US" sz="1200" dirty="0">
              <a:solidFill>
                <a:schemeClr val="tx1"/>
              </a:solidFill>
            </a:endParaRPr>
          </a:p>
        </p:txBody>
      </p:sp>
      <p:sp>
        <p:nvSpPr>
          <p:cNvPr id="8" name="Footer Placeholder 5">
            <a:extLst>
              <a:ext uri="{FF2B5EF4-FFF2-40B4-BE49-F238E27FC236}">
                <a16:creationId xmlns:a16="http://schemas.microsoft.com/office/drawing/2014/main" id="{8224681B-4DBC-D374-93E6-DF7C22231485}"/>
              </a:ext>
            </a:extLst>
          </p:cNvPr>
          <p:cNvSpPr txBox="1">
            <a:spLocks/>
          </p:cNvSpPr>
          <p:nvPr/>
        </p:nvSpPr>
        <p:spPr>
          <a:xfrm>
            <a:off x="452532" y="6406487"/>
            <a:ext cx="6297612" cy="365125"/>
          </a:xfrm>
          <a:prstGeom prst="rect">
            <a:avLst/>
          </a:prstGeom>
        </p:spPr>
        <p:txBody>
          <a:bodyPr vert="horz" lIns="91440" tIns="45720" rIns="91440" bIns="45720" rtlCol="0" anchor="ctr"/>
          <a:lstStyle>
            <a:defPPr>
              <a:defRPr lang="en-US"/>
            </a:defPPr>
            <a:lvl1pPr marL="0" algn="l"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i="1">
                <a:solidFill>
                  <a:schemeClr val="tx1"/>
                </a:solidFill>
              </a:rPr>
              <a:t>Frankfurt University Of Applied Sciences, 2024/25</a:t>
            </a:r>
            <a:endParaRPr lang="en-US" sz="1200" i="1" dirty="0">
              <a:solidFill>
                <a:schemeClr val="tx1"/>
              </a:solidFill>
            </a:endParaRPr>
          </a:p>
        </p:txBody>
      </p:sp>
    </p:spTree>
    <p:extLst>
      <p:ext uri="{BB962C8B-B14F-4D97-AF65-F5344CB8AC3E}">
        <p14:creationId xmlns:p14="http://schemas.microsoft.com/office/powerpoint/2010/main" val="545044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9F9F2-EA21-ACB9-D163-25FF3EAC4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231ED0-E18F-3D75-EA5B-F25A8C9461C9}"/>
              </a:ext>
            </a:extLst>
          </p:cNvPr>
          <p:cNvSpPr>
            <a:spLocks noGrp="1"/>
          </p:cNvSpPr>
          <p:nvPr>
            <p:ph type="title"/>
          </p:nvPr>
        </p:nvSpPr>
        <p:spPr>
          <a:xfrm>
            <a:off x="1515091" y="2099865"/>
            <a:ext cx="7744798" cy="2368559"/>
          </a:xfrm>
        </p:spPr>
        <p:txBody>
          <a:bodyPr>
            <a:normAutofit/>
          </a:bodyPr>
          <a:lstStyle/>
          <a:p>
            <a:pPr algn="ctr"/>
            <a:r>
              <a:rPr lang="en-US" sz="7200" dirty="0"/>
              <a:t>Project Analysis and Code Review</a:t>
            </a:r>
          </a:p>
        </p:txBody>
      </p:sp>
      <p:pic>
        <p:nvPicPr>
          <p:cNvPr id="4" name="Picture 3" descr="A blue and black graphic">
            <a:extLst>
              <a:ext uri="{FF2B5EF4-FFF2-40B4-BE49-F238E27FC236}">
                <a16:creationId xmlns:a16="http://schemas.microsoft.com/office/drawing/2014/main" id="{5BCDCEC3-B39B-9466-65E3-E1CD5B5CD1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8" name="Footer Placeholder 5">
            <a:extLst>
              <a:ext uri="{FF2B5EF4-FFF2-40B4-BE49-F238E27FC236}">
                <a16:creationId xmlns:a16="http://schemas.microsoft.com/office/drawing/2014/main" id="{C8722E66-D9C4-D24E-B6BD-7509A06C4749}"/>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9" name="Slide Number Placeholder 6">
            <a:extLst>
              <a:ext uri="{FF2B5EF4-FFF2-40B4-BE49-F238E27FC236}">
                <a16:creationId xmlns:a16="http://schemas.microsoft.com/office/drawing/2014/main" id="{CEFA6EAC-394D-2320-B558-D20D67993483}"/>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8</a:t>
            </a:fld>
            <a:endParaRPr lang="en-US" sz="1200" dirty="0">
              <a:solidFill>
                <a:schemeClr val="tx1"/>
              </a:solidFill>
            </a:endParaRPr>
          </a:p>
        </p:txBody>
      </p:sp>
    </p:spTree>
    <p:extLst>
      <p:ext uri="{BB962C8B-B14F-4D97-AF65-F5344CB8AC3E}">
        <p14:creationId xmlns:p14="http://schemas.microsoft.com/office/powerpoint/2010/main" val="3727878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FDB70AC-6F36-6AA4-D970-A576B5323AD7}"/>
              </a:ext>
            </a:extLst>
          </p:cNvPr>
          <p:cNvGraphicFramePr>
            <a:graphicFrameLocks noGrp="1"/>
          </p:cNvGraphicFramePr>
          <p:nvPr>
            <p:ph idx="1"/>
            <p:extLst>
              <p:ext uri="{D42A27DB-BD31-4B8C-83A1-F6EECF244321}">
                <p14:modId xmlns:p14="http://schemas.microsoft.com/office/powerpoint/2010/main" val="3845386293"/>
              </p:ext>
            </p:extLst>
          </p:nvPr>
        </p:nvGraphicFramePr>
        <p:xfrm>
          <a:off x="731453" y="850768"/>
          <a:ext cx="7679214" cy="5423279"/>
        </p:xfrm>
        <a:graphic>
          <a:graphicData uri="http://schemas.openxmlformats.org/drawingml/2006/table">
            <a:tbl>
              <a:tblPr firstRow="1" firstCol="1" bandRow="1">
                <a:tableStyleId>{BC89EF96-8CEA-46FF-86C4-4CE0E7609802}</a:tableStyleId>
              </a:tblPr>
              <a:tblGrid>
                <a:gridCol w="1385368">
                  <a:extLst>
                    <a:ext uri="{9D8B030D-6E8A-4147-A177-3AD203B41FA5}">
                      <a16:colId xmlns:a16="http://schemas.microsoft.com/office/drawing/2014/main" val="719373647"/>
                    </a:ext>
                  </a:extLst>
                </a:gridCol>
                <a:gridCol w="1350979">
                  <a:extLst>
                    <a:ext uri="{9D8B030D-6E8A-4147-A177-3AD203B41FA5}">
                      <a16:colId xmlns:a16="http://schemas.microsoft.com/office/drawing/2014/main" val="1855097435"/>
                    </a:ext>
                  </a:extLst>
                </a:gridCol>
                <a:gridCol w="1372422">
                  <a:extLst>
                    <a:ext uri="{9D8B030D-6E8A-4147-A177-3AD203B41FA5}">
                      <a16:colId xmlns:a16="http://schemas.microsoft.com/office/drawing/2014/main" val="605825716"/>
                    </a:ext>
                  </a:extLst>
                </a:gridCol>
                <a:gridCol w="1286647">
                  <a:extLst>
                    <a:ext uri="{9D8B030D-6E8A-4147-A177-3AD203B41FA5}">
                      <a16:colId xmlns:a16="http://schemas.microsoft.com/office/drawing/2014/main" val="3149329642"/>
                    </a:ext>
                  </a:extLst>
                </a:gridCol>
                <a:gridCol w="1211593">
                  <a:extLst>
                    <a:ext uri="{9D8B030D-6E8A-4147-A177-3AD203B41FA5}">
                      <a16:colId xmlns:a16="http://schemas.microsoft.com/office/drawing/2014/main" val="1709032492"/>
                    </a:ext>
                  </a:extLst>
                </a:gridCol>
                <a:gridCol w="1072205">
                  <a:extLst>
                    <a:ext uri="{9D8B030D-6E8A-4147-A177-3AD203B41FA5}">
                      <a16:colId xmlns:a16="http://schemas.microsoft.com/office/drawing/2014/main" val="3175701100"/>
                    </a:ext>
                  </a:extLst>
                </a:gridCol>
              </a:tblGrid>
              <a:tr h="429937">
                <a:tc>
                  <a:txBody>
                    <a:bodyPr/>
                    <a:lstStyle/>
                    <a:p>
                      <a:pPr marL="0" marR="0" algn="just">
                        <a:buNone/>
                      </a:pPr>
                      <a:r>
                        <a:rPr lang="en-US" sz="1300" dirty="0">
                          <a:effectLst/>
                        </a:rPr>
                        <a:t>Processing Element</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Predicted Value </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Actual Next Value</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Anomaly</a:t>
                      </a:r>
                      <a:endParaRPr lang="en-US" sz="1700" dirty="0">
                        <a:effectLst/>
                      </a:endParaRPr>
                    </a:p>
                    <a:p>
                      <a:pPr marL="0" marR="0" algn="just">
                        <a:buNone/>
                      </a:pPr>
                      <a:r>
                        <a:rPr lang="en-US" sz="1300" dirty="0">
                          <a:effectLst/>
                        </a:rPr>
                        <a:t>Flag</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Expected</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Found</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1250781085"/>
                  </a:ext>
                </a:extLst>
              </a:tr>
              <a:tr h="238001">
                <a:tc>
                  <a:txBody>
                    <a:bodyPr/>
                    <a:lstStyle/>
                    <a:p>
                      <a:pPr marL="0" marR="0" algn="just">
                        <a:buNone/>
                      </a:pPr>
                      <a:r>
                        <a:rPr lang="en-US" sz="1300">
                          <a:effectLst/>
                        </a:rPr>
                        <a:t>22</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24</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24</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78630262"/>
                  </a:ext>
                </a:extLst>
              </a:tr>
              <a:tr h="238001">
                <a:tc>
                  <a:txBody>
                    <a:bodyPr/>
                    <a:lstStyle/>
                    <a:p>
                      <a:pPr marL="0" marR="0" algn="just">
                        <a:buNone/>
                      </a:pPr>
                      <a:r>
                        <a:rPr lang="en-US" sz="1300">
                          <a:effectLst/>
                        </a:rPr>
                        <a:t>24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26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23</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59485461"/>
                  </a:ext>
                </a:extLst>
              </a:tr>
              <a:tr h="238001">
                <a:tc>
                  <a:txBody>
                    <a:bodyPr/>
                    <a:lstStyle/>
                    <a:p>
                      <a:pPr marL="0" marR="0" algn="just">
                        <a:buNone/>
                      </a:pPr>
                      <a:r>
                        <a:rPr lang="en-US" sz="1300">
                          <a:effectLst/>
                        </a:rPr>
                        <a:t>26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28</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24</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 </a:t>
                      </a:r>
                      <a:endParaRPr lang="en-US" sz="1700" dirty="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1924438814"/>
                  </a:ext>
                </a:extLst>
              </a:tr>
              <a:tr h="238001">
                <a:tc>
                  <a:txBody>
                    <a:bodyPr/>
                    <a:lstStyle/>
                    <a:p>
                      <a:pPr marL="0" marR="0" algn="just">
                        <a:buNone/>
                      </a:pPr>
                      <a:r>
                        <a:rPr lang="en-US" sz="1300">
                          <a:effectLst/>
                        </a:rPr>
                        <a:t>28</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40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29</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solidFill>
                            <a:srgbClr val="FF0000"/>
                          </a:solidFill>
                          <a:effectLst/>
                        </a:rPr>
                        <a:t>Yes</a:t>
                      </a:r>
                      <a:endParaRPr lang="en-US" sz="1700" dirty="0">
                        <a:solidFill>
                          <a:srgbClr val="FF0000"/>
                        </a:solidFill>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29</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40</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011702287"/>
                  </a:ext>
                </a:extLst>
              </a:tr>
              <a:tr h="238001">
                <a:tc>
                  <a:txBody>
                    <a:bodyPr/>
                    <a:lstStyle/>
                    <a:p>
                      <a:pPr marL="0" marR="0" algn="just">
                        <a:buNone/>
                      </a:pPr>
                      <a:r>
                        <a:rPr lang="en-US" sz="1300">
                          <a:effectLst/>
                        </a:rPr>
                        <a:t>24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26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26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2229254160"/>
                  </a:ext>
                </a:extLst>
              </a:tr>
              <a:tr h="238001">
                <a:tc>
                  <a:txBody>
                    <a:bodyPr/>
                    <a:lstStyle/>
                    <a:p>
                      <a:pPr marL="0" marR="0" algn="just">
                        <a:buNone/>
                      </a:pPr>
                      <a:r>
                        <a:rPr lang="en-US" sz="1300">
                          <a:effectLst/>
                        </a:rPr>
                        <a:t>26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27</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24</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709649551"/>
                  </a:ext>
                </a:extLst>
              </a:tr>
              <a:tr h="238001">
                <a:tc>
                  <a:txBody>
                    <a:bodyPr/>
                    <a:lstStyle/>
                    <a:p>
                      <a:pPr marL="0" marR="0" algn="just">
                        <a:buNone/>
                      </a:pPr>
                      <a:r>
                        <a:rPr lang="en-US" sz="1300">
                          <a:effectLst/>
                        </a:rPr>
                        <a:t>27</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Skip</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 </a:t>
                      </a:r>
                      <a:endParaRPr lang="en-US" sz="1700" dirty="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2227585133"/>
                  </a:ext>
                </a:extLst>
              </a:tr>
              <a:tr h="238001">
                <a:tc>
                  <a:txBody>
                    <a:bodyPr/>
                    <a:lstStyle/>
                    <a:p>
                      <a:pPr marL="0" marR="0" algn="just">
                        <a:buNone/>
                      </a:pPr>
                      <a:r>
                        <a:rPr lang="en-US" sz="1300">
                          <a:effectLst/>
                        </a:rPr>
                        <a:t>29</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30</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30</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498691095"/>
                  </a:ext>
                </a:extLst>
              </a:tr>
              <a:tr h="238001">
                <a:tc>
                  <a:txBody>
                    <a:bodyPr/>
                    <a:lstStyle/>
                    <a:p>
                      <a:pPr marL="0" marR="0" algn="just">
                        <a:buNone/>
                      </a:pPr>
                      <a:r>
                        <a:rPr lang="en-US" sz="1300">
                          <a:effectLst/>
                        </a:rPr>
                        <a:t>30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32</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33</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219405037"/>
                  </a:ext>
                </a:extLst>
              </a:tr>
              <a:tr h="238001">
                <a:tc>
                  <a:txBody>
                    <a:bodyPr/>
                    <a:lstStyle/>
                    <a:p>
                      <a:pPr marL="0" marR="0" algn="just">
                        <a:buNone/>
                      </a:pPr>
                      <a:r>
                        <a:rPr lang="en-US" sz="1300">
                          <a:effectLst/>
                        </a:rPr>
                        <a:t>32</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14</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solidFill>
                            <a:srgbClr val="FF0000"/>
                          </a:solidFill>
                          <a:effectLst/>
                        </a:rPr>
                        <a:t>Yes</a:t>
                      </a:r>
                      <a:endParaRPr lang="en-US" sz="1700" dirty="0">
                        <a:solidFill>
                          <a:srgbClr val="FF0000"/>
                        </a:solidFill>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14</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799907280"/>
                  </a:ext>
                </a:extLst>
              </a:tr>
              <a:tr h="238001">
                <a:tc>
                  <a:txBody>
                    <a:bodyPr/>
                    <a:lstStyle/>
                    <a:p>
                      <a:pPr marL="0" marR="0" algn="just">
                        <a:buNone/>
                      </a:pPr>
                      <a:r>
                        <a:rPr lang="en-US" sz="1300">
                          <a:effectLst/>
                        </a:rPr>
                        <a:t>31</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34</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2029663276"/>
                  </a:ext>
                </a:extLst>
              </a:tr>
              <a:tr h="238001">
                <a:tc>
                  <a:txBody>
                    <a:bodyPr/>
                    <a:lstStyle/>
                    <a:p>
                      <a:pPr marL="0" marR="0" algn="just">
                        <a:buNone/>
                      </a:pPr>
                      <a:r>
                        <a:rPr lang="en-US" sz="1300" dirty="0">
                          <a:effectLst/>
                        </a:rPr>
                        <a:t>34</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969437333"/>
                  </a:ext>
                </a:extLst>
              </a:tr>
              <a:tr h="238001">
                <a:tc>
                  <a:txBody>
                    <a:bodyPr/>
                    <a:lstStyle/>
                    <a:p>
                      <a:pPr marL="0" marR="0" algn="just">
                        <a:buNone/>
                      </a:pPr>
                      <a:r>
                        <a:rPr lang="en-US" sz="1300">
                          <a:effectLst/>
                        </a:rPr>
                        <a:t>36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35</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35</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1399394468"/>
                  </a:ext>
                </a:extLst>
              </a:tr>
              <a:tr h="238001">
                <a:tc>
                  <a:txBody>
                    <a:bodyPr/>
                    <a:lstStyle/>
                    <a:p>
                      <a:pPr marL="0" marR="0" algn="just">
                        <a:buNone/>
                      </a:pPr>
                      <a:r>
                        <a:rPr lang="en-US" sz="1300">
                          <a:effectLst/>
                        </a:rPr>
                        <a:t>35</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37</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37</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496408028"/>
                  </a:ext>
                </a:extLst>
              </a:tr>
              <a:tr h="238001">
                <a:tc>
                  <a:txBody>
                    <a:bodyPr/>
                    <a:lstStyle/>
                    <a:p>
                      <a:pPr marL="0" marR="0" algn="just">
                        <a:buNone/>
                      </a:pPr>
                      <a:r>
                        <a:rPr lang="en-US" sz="1300">
                          <a:effectLst/>
                        </a:rPr>
                        <a:t>37</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38</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38</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4024744295"/>
                  </a:ext>
                </a:extLst>
              </a:tr>
              <a:tr h="233322">
                <a:tc>
                  <a:txBody>
                    <a:bodyPr/>
                    <a:lstStyle/>
                    <a:p>
                      <a:pPr marL="0" marR="0" algn="just">
                        <a:buNone/>
                      </a:pPr>
                      <a:r>
                        <a:rPr lang="en-US" sz="1300">
                          <a:effectLst/>
                        </a:rPr>
                        <a:t>38</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50</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36</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200" dirty="0">
                          <a:solidFill>
                            <a:srgbClr val="FF0000"/>
                          </a:solidFill>
                          <a:effectLst/>
                        </a:rPr>
                        <a:t>Yes</a:t>
                      </a:r>
                      <a:endParaRPr lang="en-US" sz="2400" dirty="0">
                        <a:solidFill>
                          <a:srgbClr val="FF0000"/>
                        </a:solidFill>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50</a:t>
                      </a:r>
                      <a:endParaRPr lang="en-US" sz="1700" dirty="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854623346"/>
                  </a:ext>
                </a:extLst>
              </a:tr>
              <a:tr h="238001">
                <a:tc>
                  <a:txBody>
                    <a:bodyPr/>
                    <a:lstStyle/>
                    <a:p>
                      <a:pPr marL="0" marR="0" algn="just">
                        <a:buNone/>
                      </a:pPr>
                      <a:r>
                        <a:rPr lang="en-US" sz="1300">
                          <a:effectLst/>
                        </a:rPr>
                        <a:t>37</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 </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 </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Skip</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2309977328"/>
                  </a:ext>
                </a:extLst>
              </a:tr>
              <a:tr h="238001">
                <a:tc>
                  <a:txBody>
                    <a:bodyPr/>
                    <a:lstStyle/>
                    <a:p>
                      <a:pPr marL="0" marR="0" algn="just">
                        <a:buNone/>
                      </a:pPr>
                      <a:r>
                        <a:rPr lang="en-US" sz="1300">
                          <a:effectLst/>
                        </a:rPr>
                        <a:t>39</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40</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40</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1518685816"/>
                  </a:ext>
                </a:extLst>
              </a:tr>
              <a:tr h="238001">
                <a:tc>
                  <a:txBody>
                    <a:bodyPr/>
                    <a:lstStyle/>
                    <a:p>
                      <a:pPr marL="0" marR="0" algn="just">
                        <a:buNone/>
                      </a:pPr>
                      <a:r>
                        <a:rPr lang="en-US" sz="1300">
                          <a:effectLst/>
                        </a:rPr>
                        <a:t>40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41</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41</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844833371"/>
                  </a:ext>
                </a:extLst>
              </a:tr>
              <a:tr h="238001">
                <a:tc>
                  <a:txBody>
                    <a:bodyPr/>
                    <a:lstStyle/>
                    <a:p>
                      <a:pPr marL="0" marR="0" algn="just">
                        <a:buNone/>
                      </a:pPr>
                      <a:r>
                        <a:rPr lang="en-US" sz="1300">
                          <a:effectLst/>
                        </a:rPr>
                        <a:t>41</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43</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43</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2564096479"/>
                  </a:ext>
                </a:extLst>
              </a:tr>
              <a:tr h="238001">
                <a:tc>
                  <a:txBody>
                    <a:bodyPr/>
                    <a:lstStyle/>
                    <a:p>
                      <a:pPr marL="0" marR="0" algn="just">
                        <a:buNone/>
                      </a:pPr>
                      <a:r>
                        <a:rPr lang="en-US" sz="1300">
                          <a:effectLst/>
                        </a:rPr>
                        <a:t>43</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44</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44</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No</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 </a:t>
                      </a:r>
                      <a:endParaRPr lang="en-US" sz="1700" dirty="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8827703"/>
                  </a:ext>
                </a:extLst>
              </a:tr>
            </a:tbl>
          </a:graphicData>
        </a:graphic>
      </p:graphicFrame>
      <p:pic>
        <p:nvPicPr>
          <p:cNvPr id="5" name="Picture 4" descr="A blue and black graphic">
            <a:extLst>
              <a:ext uri="{FF2B5EF4-FFF2-40B4-BE49-F238E27FC236}">
                <a16:creationId xmlns:a16="http://schemas.microsoft.com/office/drawing/2014/main" id="{712C8FA4-33F0-BCBE-0B3C-8C467D2D61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6" name="Title 1">
            <a:extLst>
              <a:ext uri="{FF2B5EF4-FFF2-40B4-BE49-F238E27FC236}">
                <a16:creationId xmlns:a16="http://schemas.microsoft.com/office/drawing/2014/main" id="{CA7554C7-C95F-1A1E-5FE5-7F0D7BA524D5}"/>
              </a:ext>
            </a:extLst>
          </p:cNvPr>
          <p:cNvSpPr>
            <a:spLocks noGrp="1"/>
          </p:cNvSpPr>
          <p:nvPr>
            <p:ph type="title"/>
          </p:nvPr>
        </p:nvSpPr>
        <p:spPr>
          <a:xfrm>
            <a:off x="640919" y="172390"/>
            <a:ext cx="8596668" cy="1320800"/>
          </a:xfrm>
        </p:spPr>
        <p:txBody>
          <a:bodyPr/>
          <a:lstStyle/>
          <a:p>
            <a:r>
              <a:rPr lang="en-US" dirty="0"/>
              <a:t>Processing Elements</a:t>
            </a:r>
          </a:p>
        </p:txBody>
      </p:sp>
      <p:sp>
        <p:nvSpPr>
          <p:cNvPr id="12" name="Footer Placeholder 5">
            <a:extLst>
              <a:ext uri="{FF2B5EF4-FFF2-40B4-BE49-F238E27FC236}">
                <a16:creationId xmlns:a16="http://schemas.microsoft.com/office/drawing/2014/main" id="{59AFCC4A-C2F0-C2F5-CDDD-717B812C5537}"/>
              </a:ext>
            </a:extLst>
          </p:cNvPr>
          <p:cNvSpPr>
            <a:spLocks noGrp="1"/>
          </p:cNvSpPr>
          <p:nvPr>
            <p:ph type="ftr" sz="quarter" idx="11"/>
          </p:nvPr>
        </p:nvSpPr>
        <p:spPr>
          <a:xfrm>
            <a:off x="452532" y="6492875"/>
            <a:ext cx="6297612" cy="365125"/>
          </a:xfrm>
        </p:spPr>
        <p:txBody>
          <a:bodyPr/>
          <a:lstStyle/>
          <a:p>
            <a:r>
              <a:rPr lang="en-US" sz="1200" i="1" dirty="0">
                <a:solidFill>
                  <a:schemeClr val="tx1"/>
                </a:solidFill>
              </a:rPr>
              <a:t>Frankfurt University Of Applied Sciences, 2024/25</a:t>
            </a:r>
          </a:p>
        </p:txBody>
      </p:sp>
      <p:sp>
        <p:nvSpPr>
          <p:cNvPr id="14" name="Slide Number Placeholder 6">
            <a:extLst>
              <a:ext uri="{FF2B5EF4-FFF2-40B4-BE49-F238E27FC236}">
                <a16:creationId xmlns:a16="http://schemas.microsoft.com/office/drawing/2014/main" id="{4F054C6F-BA18-FAC8-1A01-93A71129D00A}"/>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9</a:t>
            </a:fld>
            <a:endParaRPr lang="en-US" sz="1200" dirty="0">
              <a:solidFill>
                <a:schemeClr val="tx1"/>
              </a:solidFill>
            </a:endParaRPr>
          </a:p>
        </p:txBody>
      </p:sp>
    </p:spTree>
    <p:extLst>
      <p:ext uri="{BB962C8B-B14F-4D97-AF65-F5344CB8AC3E}">
        <p14:creationId xmlns:p14="http://schemas.microsoft.com/office/powerpoint/2010/main" val="4094232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graph showing a number of different colored lines">
            <a:extLst>
              <a:ext uri="{FF2B5EF4-FFF2-40B4-BE49-F238E27FC236}">
                <a16:creationId xmlns:a16="http://schemas.microsoft.com/office/drawing/2014/main" id="{AC882C45-61F9-119B-510F-36C30C98A8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968" y="1433671"/>
            <a:ext cx="9023402" cy="4535990"/>
          </a:xfrm>
          <a:prstGeom prst="rect">
            <a:avLst/>
          </a:prstGeom>
        </p:spPr>
      </p:pic>
      <p:sp>
        <p:nvSpPr>
          <p:cNvPr id="2" name="Title 1">
            <a:extLst>
              <a:ext uri="{FF2B5EF4-FFF2-40B4-BE49-F238E27FC236}">
                <a16:creationId xmlns:a16="http://schemas.microsoft.com/office/drawing/2014/main" id="{EE34FF95-5671-94DC-6B4C-052DD592B798}"/>
              </a:ext>
            </a:extLst>
          </p:cNvPr>
          <p:cNvSpPr>
            <a:spLocks noGrp="1"/>
          </p:cNvSpPr>
          <p:nvPr>
            <p:ph type="title"/>
          </p:nvPr>
        </p:nvSpPr>
        <p:spPr>
          <a:xfrm>
            <a:off x="452532" y="383924"/>
            <a:ext cx="8957649" cy="1008830"/>
          </a:xfrm>
        </p:spPr>
        <p:txBody>
          <a:bodyPr anchor="ctr">
            <a:noAutofit/>
          </a:bodyPr>
          <a:lstStyle/>
          <a:p>
            <a:r>
              <a:rPr lang="en-US" dirty="0"/>
              <a:t>Line Charts for Sample Anomaly Detection</a:t>
            </a:r>
          </a:p>
        </p:txBody>
      </p:sp>
      <p:pic>
        <p:nvPicPr>
          <p:cNvPr id="5" name="Picture 4" descr="A blue and black graphic">
            <a:extLst>
              <a:ext uri="{FF2B5EF4-FFF2-40B4-BE49-F238E27FC236}">
                <a16:creationId xmlns:a16="http://schemas.microsoft.com/office/drawing/2014/main" id="{516D12AB-8C35-C775-6862-9F98904F7D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10" name="Footer Placeholder 5">
            <a:extLst>
              <a:ext uri="{FF2B5EF4-FFF2-40B4-BE49-F238E27FC236}">
                <a16:creationId xmlns:a16="http://schemas.microsoft.com/office/drawing/2014/main" id="{46EEC960-F75F-AA38-6D24-63722FEBFF9C}"/>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11" name="Slide Number Placeholder 6">
            <a:extLst>
              <a:ext uri="{FF2B5EF4-FFF2-40B4-BE49-F238E27FC236}">
                <a16:creationId xmlns:a16="http://schemas.microsoft.com/office/drawing/2014/main" id="{5C2C57D5-0D54-CA91-631F-E61AF8795690}"/>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10</a:t>
            </a:fld>
            <a:endParaRPr lang="en-US" sz="1200" dirty="0">
              <a:solidFill>
                <a:schemeClr val="tx1"/>
              </a:solidFill>
            </a:endParaRPr>
          </a:p>
        </p:txBody>
      </p:sp>
    </p:spTree>
    <p:extLst>
      <p:ext uri="{BB962C8B-B14F-4D97-AF65-F5344CB8AC3E}">
        <p14:creationId xmlns:p14="http://schemas.microsoft.com/office/powerpoint/2010/main" val="1559627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BA500C-637A-DB70-5ADF-0F04629697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F7D00-E9D4-D2A2-355F-6D3B8BF5EF41}"/>
              </a:ext>
            </a:extLst>
          </p:cNvPr>
          <p:cNvSpPr>
            <a:spLocks noGrp="1"/>
          </p:cNvSpPr>
          <p:nvPr>
            <p:ph type="title"/>
          </p:nvPr>
        </p:nvSpPr>
        <p:spPr>
          <a:xfrm>
            <a:off x="452532" y="383924"/>
            <a:ext cx="8957649" cy="1008830"/>
          </a:xfrm>
        </p:spPr>
        <p:txBody>
          <a:bodyPr anchor="ctr">
            <a:noAutofit/>
          </a:bodyPr>
          <a:lstStyle/>
          <a:p>
            <a:r>
              <a:rPr lang="en-US" dirty="0"/>
              <a:t>Line Charts for Sample Anomaly Detection</a:t>
            </a:r>
          </a:p>
        </p:txBody>
      </p:sp>
      <p:pic>
        <p:nvPicPr>
          <p:cNvPr id="5" name="Picture 4" descr="A blue and black graphic">
            <a:extLst>
              <a:ext uri="{FF2B5EF4-FFF2-40B4-BE49-F238E27FC236}">
                <a16:creationId xmlns:a16="http://schemas.microsoft.com/office/drawing/2014/main" id="{6706BB3C-B00A-4F28-494D-90F82069FC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10" name="Footer Placeholder 5">
            <a:extLst>
              <a:ext uri="{FF2B5EF4-FFF2-40B4-BE49-F238E27FC236}">
                <a16:creationId xmlns:a16="http://schemas.microsoft.com/office/drawing/2014/main" id="{CD68FC43-784F-23B2-ABCA-5B1F57A633DE}"/>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11" name="Slide Number Placeholder 6">
            <a:extLst>
              <a:ext uri="{FF2B5EF4-FFF2-40B4-BE49-F238E27FC236}">
                <a16:creationId xmlns:a16="http://schemas.microsoft.com/office/drawing/2014/main" id="{A80D4E2E-73AB-8E9A-D845-E44F7018E292}"/>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11</a:t>
            </a:fld>
            <a:endParaRPr lang="en-US" sz="1200" dirty="0">
              <a:solidFill>
                <a:schemeClr val="tx1"/>
              </a:solidFill>
            </a:endParaRPr>
          </a:p>
        </p:txBody>
      </p:sp>
      <p:pic>
        <p:nvPicPr>
          <p:cNvPr id="6" name="Picture 5">
            <a:extLst>
              <a:ext uri="{FF2B5EF4-FFF2-40B4-BE49-F238E27FC236}">
                <a16:creationId xmlns:a16="http://schemas.microsoft.com/office/drawing/2014/main" id="{A2763273-E51B-130E-0DD2-A88AD47506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2532" y="1487694"/>
            <a:ext cx="9336438" cy="4427943"/>
          </a:xfrm>
          <a:prstGeom prst="rect">
            <a:avLst/>
          </a:prstGeom>
        </p:spPr>
      </p:pic>
    </p:spTree>
    <p:extLst>
      <p:ext uri="{BB962C8B-B14F-4D97-AF65-F5344CB8AC3E}">
        <p14:creationId xmlns:p14="http://schemas.microsoft.com/office/powerpoint/2010/main" val="763763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390F4-750F-4B4C-4D02-9D1469370B6C}"/>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973DFCBD-CBEF-0AC2-71F0-3233E3361F4D}"/>
              </a:ext>
            </a:extLst>
          </p:cNvPr>
          <p:cNvSpPr>
            <a:spLocks noGrp="1"/>
          </p:cNvSpPr>
          <p:nvPr>
            <p:ph idx="1"/>
          </p:nvPr>
        </p:nvSpPr>
        <p:spPr>
          <a:xfrm>
            <a:off x="677334" y="1723869"/>
            <a:ext cx="8596668" cy="3203733"/>
          </a:xfrm>
        </p:spPr>
        <p:txBody>
          <a:bodyPr/>
          <a:lstStyle/>
          <a:p>
            <a:pPr marL="0" marR="0" algn="l" latinLnBrk="1">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ea typeface="Times New Roman" panose="02020603050405020304" pitchFamily="18" charset="0"/>
              </a:rPr>
              <a:t>We present a working HTM implementation for temporal anomaly detection, demonstrating effective pattern learning through spatial-temporal processing. Future work will address:</a:t>
            </a:r>
            <a:endParaRPr lang="en-US" sz="1800" dirty="0">
              <a:solidFill>
                <a:schemeClr val="tx1"/>
              </a:solidFill>
              <a:effectLst/>
              <a:ea typeface="SimSun" panose="02010600030101010101" pitchFamily="2" charset="-122"/>
            </a:endParaRPr>
          </a:p>
          <a:p>
            <a:pPr marR="0" lvl="0" algn="l" latinLnBrk="1">
              <a:buSzPts val="1000"/>
              <a:buFont typeface="Wingdings" panose="05000000000000000000" pitchFamily="2" charset="2"/>
              <a:buChar char="Ø"/>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ea typeface="Times New Roman" panose="02020603050405020304" pitchFamily="18" charset="0"/>
              </a:rPr>
              <a:t>Dynamic threshold adaptation</a:t>
            </a:r>
            <a:endParaRPr lang="en-US" sz="1800" dirty="0">
              <a:solidFill>
                <a:schemeClr val="tx1"/>
              </a:solidFill>
              <a:effectLst/>
              <a:ea typeface="SimSun" panose="02010600030101010101" pitchFamily="2" charset="-122"/>
            </a:endParaRPr>
          </a:p>
          <a:p>
            <a:pPr marR="0" lvl="0" algn="l" latinLnBrk="1">
              <a:buSzPts val="1000"/>
              <a:buFont typeface="Wingdings" panose="05000000000000000000" pitchFamily="2" charset="2"/>
              <a:buChar char="Ø"/>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ea typeface="Times New Roman" panose="02020603050405020304" pitchFamily="18" charset="0"/>
              </a:rPr>
              <a:t>Distributed training</a:t>
            </a:r>
            <a:endParaRPr lang="en-US" sz="1800" dirty="0">
              <a:solidFill>
                <a:schemeClr val="tx1"/>
              </a:solidFill>
              <a:effectLst/>
              <a:ea typeface="SimSun" panose="02010600030101010101" pitchFamily="2" charset="-122"/>
            </a:endParaRPr>
          </a:p>
          <a:p>
            <a:pPr marR="0" lvl="0" algn="l" latinLnBrk="1">
              <a:buSzPts val="1000"/>
              <a:buFont typeface="Wingdings" panose="05000000000000000000" pitchFamily="2" charset="2"/>
              <a:buChar char="Ø"/>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ea typeface="Times New Roman" panose="02020603050405020304" pitchFamily="18" charset="0"/>
              </a:rPr>
              <a:t>Streaming data support</a:t>
            </a:r>
            <a:endParaRPr lang="en-US" sz="1800" dirty="0">
              <a:solidFill>
                <a:schemeClr val="tx1"/>
              </a:solidFill>
              <a:effectLst/>
              <a:ea typeface="SimSun" panose="02010600030101010101" pitchFamily="2" charset="-122"/>
            </a:endParaRPr>
          </a:p>
          <a:p>
            <a:endParaRPr lang="en-US" dirty="0"/>
          </a:p>
        </p:txBody>
      </p:sp>
      <p:pic>
        <p:nvPicPr>
          <p:cNvPr id="4" name="Picture 3" descr="A blue and black graphic">
            <a:extLst>
              <a:ext uri="{FF2B5EF4-FFF2-40B4-BE49-F238E27FC236}">
                <a16:creationId xmlns:a16="http://schemas.microsoft.com/office/drawing/2014/main" id="{A1F19644-07AA-A5DE-F95E-3430871A40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8" name="Footer Placeholder 5">
            <a:extLst>
              <a:ext uri="{FF2B5EF4-FFF2-40B4-BE49-F238E27FC236}">
                <a16:creationId xmlns:a16="http://schemas.microsoft.com/office/drawing/2014/main" id="{38B0748C-1F47-06CF-3C11-D275DF19F13F}"/>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9" name="Slide Number Placeholder 6">
            <a:extLst>
              <a:ext uri="{FF2B5EF4-FFF2-40B4-BE49-F238E27FC236}">
                <a16:creationId xmlns:a16="http://schemas.microsoft.com/office/drawing/2014/main" id="{C1E0527B-97D3-AEBC-2665-D6BBF439C0FF}"/>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12</a:t>
            </a:fld>
            <a:endParaRPr lang="en-US" sz="1200" dirty="0">
              <a:solidFill>
                <a:schemeClr val="tx1"/>
              </a:solidFill>
            </a:endParaRPr>
          </a:p>
        </p:txBody>
      </p:sp>
    </p:spTree>
    <p:extLst>
      <p:ext uri="{BB962C8B-B14F-4D97-AF65-F5344CB8AC3E}">
        <p14:creationId xmlns:p14="http://schemas.microsoft.com/office/powerpoint/2010/main" val="3063182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9854B-5BED-72E9-4F01-D770AEB1B024}"/>
              </a:ext>
            </a:extLst>
          </p:cNvPr>
          <p:cNvSpPr>
            <a:spLocks noGrp="1"/>
          </p:cNvSpPr>
          <p:nvPr>
            <p:ph type="title"/>
          </p:nvPr>
        </p:nvSpPr>
        <p:spPr>
          <a:xfrm>
            <a:off x="1596572" y="2656114"/>
            <a:ext cx="7402286" cy="1320800"/>
          </a:xfrm>
        </p:spPr>
        <p:txBody>
          <a:bodyPr>
            <a:normAutofit/>
          </a:bodyPr>
          <a:lstStyle/>
          <a:p>
            <a:pPr algn="ctr"/>
            <a:r>
              <a:rPr lang="en-US" sz="7200" dirty="0"/>
              <a:t>Thank You!</a:t>
            </a:r>
          </a:p>
        </p:txBody>
      </p:sp>
      <p:pic>
        <p:nvPicPr>
          <p:cNvPr id="4" name="Picture 3" descr="A blue and black graphic">
            <a:extLst>
              <a:ext uri="{FF2B5EF4-FFF2-40B4-BE49-F238E27FC236}">
                <a16:creationId xmlns:a16="http://schemas.microsoft.com/office/drawing/2014/main" id="{FECB2454-F398-47CE-82D1-E417A6CDFD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8" name="Footer Placeholder 5">
            <a:extLst>
              <a:ext uri="{FF2B5EF4-FFF2-40B4-BE49-F238E27FC236}">
                <a16:creationId xmlns:a16="http://schemas.microsoft.com/office/drawing/2014/main" id="{B944F49A-C7E2-0F1D-4BEA-1F971E5EBDE4}"/>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9" name="Slide Number Placeholder 6">
            <a:extLst>
              <a:ext uri="{FF2B5EF4-FFF2-40B4-BE49-F238E27FC236}">
                <a16:creationId xmlns:a16="http://schemas.microsoft.com/office/drawing/2014/main" id="{23D044A6-43AE-87D1-B714-9FC28F243E54}"/>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13</a:t>
            </a:fld>
            <a:endParaRPr lang="en-US" sz="1200" dirty="0">
              <a:solidFill>
                <a:schemeClr val="tx1"/>
              </a:solidFill>
            </a:endParaRPr>
          </a:p>
        </p:txBody>
      </p:sp>
    </p:spTree>
    <p:extLst>
      <p:ext uri="{BB962C8B-B14F-4D97-AF65-F5344CB8AC3E}">
        <p14:creationId xmlns:p14="http://schemas.microsoft.com/office/powerpoint/2010/main" val="2193404338"/>
      </p:ext>
    </p:extLst>
  </p:cSld>
  <p:clrMapOvr>
    <a:masterClrMapping/>
  </p:clrMapOvr>
</p:sld>
</file>

<file path=ppt/theme/theme1.xml><?xml version="1.0" encoding="utf-8"?>
<a:theme xmlns:a="http://schemas.openxmlformats.org/drawingml/2006/main" name="Facet">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20254</TotalTime>
  <Words>952</Words>
  <Application>Microsoft Office PowerPoint</Application>
  <PresentationFormat>Widescreen</PresentationFormat>
  <Paragraphs>239</Paragraphs>
  <Slides>13</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MS Mincho</vt:lpstr>
      <vt:lpstr>SimSun</vt:lpstr>
      <vt:lpstr>Aptos</vt:lpstr>
      <vt:lpstr>Arial</vt:lpstr>
      <vt:lpstr>Times New Roman</vt:lpstr>
      <vt:lpstr>Trebuchet MS</vt:lpstr>
      <vt:lpstr>Wingdings</vt:lpstr>
      <vt:lpstr>Wingdings 3</vt:lpstr>
      <vt:lpstr>Facet</vt:lpstr>
      <vt:lpstr>SOFTWARE ENGINEERING WS 24/25  ML 24/25–03 Implement Anomaly Detection Sample  Presented by : Team Synergy </vt:lpstr>
      <vt:lpstr>Agenda</vt:lpstr>
      <vt:lpstr>Objective</vt:lpstr>
      <vt:lpstr>Data Collection and Preprocessing</vt:lpstr>
      <vt:lpstr>Algorithm Design</vt:lpstr>
      <vt:lpstr>Anomaly Detection Logic</vt:lpstr>
      <vt:lpstr>Project Workflow</vt:lpstr>
      <vt:lpstr>Project Analysis and Code Review</vt:lpstr>
      <vt:lpstr>Processing Elements</vt:lpstr>
      <vt:lpstr>Line Charts for Sample Anomaly Detection</vt:lpstr>
      <vt:lpstr>Line Charts for Sample Anomaly Detection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Samra</cp:lastModifiedBy>
  <cp:revision>25</cp:revision>
  <dcterms:created xsi:type="dcterms:W3CDTF">2025-01-08T19:03:43Z</dcterms:created>
  <dcterms:modified xsi:type="dcterms:W3CDTF">2025-03-14T19:44:38Z</dcterms:modified>
</cp:coreProperties>
</file>